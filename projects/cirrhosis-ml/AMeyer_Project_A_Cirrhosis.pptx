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3" r:id="rId5"/>
    <p:sldId id="259" r:id="rId6"/>
    <p:sldId id="267" r:id="rId7"/>
    <p:sldId id="260" r:id="rId8"/>
    <p:sldId id="261" r:id="rId9"/>
    <p:sldId id="265" r:id="rId10"/>
    <p:sldId id="262"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p:scale>
          <a:sx n="100" d="100"/>
          <a:sy n="100" d="100"/>
        </p:scale>
        <p:origin x="36" y="96"/>
      </p:cViewPr>
      <p:guideLst/>
    </p:cSldViewPr>
  </p:slideViewPr>
  <p:notesTextViewPr>
    <p:cViewPr>
      <p:scale>
        <a:sx n="1" d="1"/>
        <a:sy n="1" d="1"/>
      </p:scale>
      <p:origin x="0" y="-672"/>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6698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Project A I built a neural network that predicts patient survival for cirrhosis using the Mayo Clinic dataset from our textbook. This is a binary classification problem, and I'm going to walk you through how I cleaned the data, built the model in TensorFlow, and what I found out about whether a tool like this is actually useful.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comes from a real Mayo Clinic trial and contains 418 patient records with 20 columns covering demographics, lab values, and clinical signs. The goal is to predict survival as a binary outcome: did the patient die during the trial, or did they survive or get censored. I built this as a feed-forward neural network in TensorFlow and </a:t>
            </a:r>
            <a:r>
              <a:rPr lang="en-US" dirty="0" err="1"/>
              <a:t>Keras</a:t>
            </a:r>
            <a:r>
              <a:rPr lang="en-US" dirty="0"/>
              <a:t>, which is a good fit for tabular clinical data with mixed numerical and categorical features.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was actually a bigger part of this project than building the model. There were six steps: dropping rows with any missing values, removing the four columns that the project spec said to exclude, one-hot encoding the Edema column because it had three categories instead of two, mapping the binary text fields like Sex and Yes/No to ones and zeros, defining the target variable from the Status column, and converting everything to float. After all of that the data was ready to feed into the network.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Before I dropped anything I checked the missing-value counts to see what we were working with. You can see most columns had over 100 missing entries, mostly in the lab values like Cholesterol, Copper, and Triglycerides. I chose to drop rows rather than impute because the project spec asked us to, and because imputation on small clinical datasets can introduce bias. After dropping, the dataset went from 418 patients down to 276, which is something I want to flag again later.</a:t>
            </a:r>
          </a:p>
        </p:txBody>
      </p:sp>
    </p:spTree>
    <p:extLst>
      <p:ext uri="{BB962C8B-B14F-4D97-AF65-F5344CB8AC3E}">
        <p14:creationId xmlns:p14="http://schemas.microsoft.com/office/powerpoint/2010/main" val="4170513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intentionally simple. I have an input layer matching the feature count, two hidden Dense layers with 16 neurons each using </a:t>
            </a:r>
            <a:r>
              <a:rPr lang="en-US" dirty="0" err="1"/>
              <a:t>ReLU</a:t>
            </a:r>
            <a:r>
              <a:rPr lang="en-US" dirty="0"/>
              <a:t> activation, and a single sigmoid output that returns a probability between 0 and 1. </a:t>
            </a:r>
            <a:r>
              <a:rPr lang="en-US" dirty="0" err="1"/>
              <a:t>ReLU</a:t>
            </a:r>
            <a:r>
              <a:rPr lang="en-US" dirty="0"/>
              <a:t> is the standard choice for hidden layers because it handles nonlinear patterns without the gradient problems older activations have. For training I used the Adam optimizer, binary cross-entropy loss because this is a yes-or-no prediction, an 80/20 train-test split with a fixed random state for reproducibility, and </a:t>
            </a:r>
            <a:r>
              <a:rPr lang="en-US" dirty="0" err="1"/>
              <a:t>StandardScaler</a:t>
            </a:r>
            <a:r>
              <a:rPr lang="en-US" dirty="0"/>
              <a:t> so the features were all on the same scale.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Quick walk-through of the splitting and scaling. The 80/20 split gave me 220 patients to train on and 56 to test. I locked the random state to 42 so the split is the same every time I rerun, which made debugging much easier. The reason scaling matters here is that the features cover wildly different ranges. Age is in days, so it spans tens of thousands. Bilirubin is in milligrams per deciliter and rarely goes above 20. Without scaling, the bigger numbers would dominate the gradient updates and slow training down.</a:t>
            </a:r>
          </a:p>
          <a:p>
            <a:endParaRPr lang="en-US" dirty="0"/>
          </a:p>
        </p:txBody>
      </p:sp>
    </p:spTree>
    <p:extLst>
      <p:ext uri="{BB962C8B-B14F-4D97-AF65-F5344CB8AC3E}">
        <p14:creationId xmlns:p14="http://schemas.microsoft.com/office/powerpoint/2010/main" val="6094153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shows what happened across the 10 training epochs. The teal line is accuracy on the left axis, and the navy line is loss on the right axis. Accuracy climbed steadily from about 60 percent in the first epoch to 78 percent by the end, and loss dropped from 0.67 down to 0.54. Both curves are still moving in the right direction at epoch 10, which suggests there's a little more to learn if I trained longer, but the gains had mostly leveled off. One caveat: these are only training curves. Without a validation curve I cannot actually see overfitting, so the takeaway about smooth curves is just about training behavior, not generalization.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chart shows what happened across the 10 training epochs. The teal line is accuracy on the left axis, and the navy line is loss on the right axis. Accuracy climbed steadily from about 60 percent in the first epoch to 78 percent by the end, and loss dropped from 0.67 down to 0.54. Both curves are still moving in the right direction at epoch 10, which suggests there's a little more to learn if I trained longer, but the gains had mostly leveled off. One caveat: these are only training curves. Without a validation curve I cannot actually see overfitting, so the takeaway about smooth curves is just about training behavior, not generalization.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This is the part of the rubric that asks how confident I would be using this to actually diagnose cirrhosis, and I want to be honest about it. The dataset shrank to 276 patients after cleaning. I only ran 10 epochs with no validation split, no dropout, and no regularization, so I cannot directly check for overfitting. The Drug column was excluded per the spec, which removes a clinically meaningful variable. So while 80 percent accuracy is encouraging for a class project, it is not high enough for real clinical use. A real diagnostic tool would need higher sensitivity, calibrated probabilities, and validation on outside patient data before anyone should trust it.</a:t>
            </a:r>
          </a:p>
        </p:txBody>
      </p:sp>
    </p:spTree>
    <p:extLst>
      <p:ext uri="{BB962C8B-B14F-4D97-AF65-F5344CB8AC3E}">
        <p14:creationId xmlns:p14="http://schemas.microsoft.com/office/powerpoint/2010/main" val="26675189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a simple neural network with two hidden layers and 10 epochs reached around 80 percent accuracy on cirrhosis survival prediction. The biggest lesson for me was that cleaning and encoding the clinical data was just as important as the model architecture itself. The smooth training curves suggest the architecture matched the dataset size well. If I wanted to push this further, I would try cross-validation instead of a single split, train for more epochs with early stopping based on a validation set, and use class-weighted loss to better handle the class imbalance. </a:t>
            </a:r>
            <a:r>
              <a:rPr lang="en-US"/>
              <a:t>Thanks for listening,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0F2A4A"/>
          </a:solidFill>
          <a:ln w="12700">
            <a:solidFill>
              <a:srgbClr val="0F2A4A"/>
            </a:solidFill>
            <a:prstDash val="solid"/>
          </a:ln>
        </p:spPr>
        <p:txBody>
          <a:bodyPr/>
          <a:lstStyle/>
          <a:p>
            <a:endParaRPr lang="en-US"/>
          </a:p>
        </p:txBody>
      </p:sp>
      <p:sp>
        <p:nvSpPr>
          <p:cNvPr id="3" name="Shape 1"/>
          <p:cNvSpPr/>
          <p:nvPr/>
        </p:nvSpPr>
        <p:spPr>
          <a:xfrm>
            <a:off x="640080" y="640080"/>
            <a:ext cx="320040" cy="320040"/>
          </a:xfrm>
          <a:prstGeom prst="ellipse">
            <a:avLst/>
          </a:prstGeom>
          <a:solidFill>
            <a:srgbClr val="5BBFBA">
              <a:alpha val="70000"/>
            </a:srgbClr>
          </a:solidFill>
          <a:ln w="12700">
            <a:solidFill>
              <a:srgbClr val="5BBFBA"/>
            </a:solidFill>
            <a:prstDash val="solid"/>
          </a:ln>
        </p:spPr>
        <p:txBody>
          <a:bodyPr/>
          <a:lstStyle/>
          <a:p>
            <a:endParaRPr lang="en-US"/>
          </a:p>
        </p:txBody>
      </p:sp>
      <p:sp>
        <p:nvSpPr>
          <p:cNvPr id="4" name="Shape 2"/>
          <p:cNvSpPr/>
          <p:nvPr/>
        </p:nvSpPr>
        <p:spPr>
          <a:xfrm>
            <a:off x="1280160" y="1097280"/>
            <a:ext cx="164592" cy="164592"/>
          </a:xfrm>
          <a:prstGeom prst="ellipse">
            <a:avLst/>
          </a:prstGeom>
          <a:solidFill>
            <a:srgbClr val="0E8A8A">
              <a:alpha val="70000"/>
            </a:srgbClr>
          </a:solidFill>
          <a:ln w="12700">
            <a:solidFill>
              <a:srgbClr val="0E8A8A"/>
            </a:solidFill>
            <a:prstDash val="solid"/>
          </a:ln>
        </p:spPr>
        <p:txBody>
          <a:bodyPr/>
          <a:lstStyle/>
          <a:p>
            <a:endParaRPr lang="en-US"/>
          </a:p>
        </p:txBody>
      </p:sp>
      <p:sp>
        <p:nvSpPr>
          <p:cNvPr id="5" name="Shape 3"/>
          <p:cNvSpPr/>
          <p:nvPr/>
        </p:nvSpPr>
        <p:spPr>
          <a:xfrm>
            <a:off x="457200" y="1554480"/>
            <a:ext cx="109728" cy="109728"/>
          </a:xfrm>
          <a:prstGeom prst="ellipse">
            <a:avLst/>
          </a:prstGeom>
          <a:solidFill>
            <a:srgbClr val="5BBFBA">
              <a:alpha val="70000"/>
            </a:srgbClr>
          </a:solidFill>
          <a:ln w="12700">
            <a:solidFill>
              <a:srgbClr val="5BBFBA"/>
            </a:solidFill>
            <a:prstDash val="solid"/>
          </a:ln>
        </p:spPr>
        <p:txBody>
          <a:bodyPr/>
          <a:lstStyle/>
          <a:p>
            <a:endParaRPr lang="en-US"/>
          </a:p>
        </p:txBody>
      </p:sp>
      <p:sp>
        <p:nvSpPr>
          <p:cNvPr id="6" name="Shape 4"/>
          <p:cNvSpPr/>
          <p:nvPr/>
        </p:nvSpPr>
        <p:spPr>
          <a:xfrm>
            <a:off x="1828800" y="2103120"/>
            <a:ext cx="228600" cy="228600"/>
          </a:xfrm>
          <a:prstGeom prst="ellipse">
            <a:avLst/>
          </a:prstGeom>
          <a:solidFill>
            <a:srgbClr val="0E8A8A">
              <a:alpha val="70000"/>
            </a:srgbClr>
          </a:solidFill>
          <a:ln w="12700">
            <a:solidFill>
              <a:srgbClr val="0E8A8A"/>
            </a:solidFill>
            <a:prstDash val="solid"/>
          </a:ln>
        </p:spPr>
        <p:txBody>
          <a:bodyPr/>
          <a:lstStyle/>
          <a:p>
            <a:endParaRPr lang="en-US"/>
          </a:p>
        </p:txBody>
      </p:sp>
      <p:sp>
        <p:nvSpPr>
          <p:cNvPr id="7" name="Shape 5"/>
          <p:cNvSpPr/>
          <p:nvPr/>
        </p:nvSpPr>
        <p:spPr>
          <a:xfrm>
            <a:off x="822960" y="2926080"/>
            <a:ext cx="146304" cy="146304"/>
          </a:xfrm>
          <a:prstGeom prst="ellipse">
            <a:avLst/>
          </a:prstGeom>
          <a:solidFill>
            <a:srgbClr val="5BBFBA">
              <a:alpha val="70000"/>
            </a:srgbClr>
          </a:solidFill>
          <a:ln w="12700">
            <a:solidFill>
              <a:srgbClr val="5BBFBA"/>
            </a:solidFill>
            <a:prstDash val="solid"/>
          </a:ln>
        </p:spPr>
        <p:txBody>
          <a:bodyPr/>
          <a:lstStyle/>
          <a:p>
            <a:endParaRPr lang="en-US"/>
          </a:p>
        </p:txBody>
      </p:sp>
      <p:sp>
        <p:nvSpPr>
          <p:cNvPr id="8" name="Shape 6"/>
          <p:cNvSpPr/>
          <p:nvPr/>
        </p:nvSpPr>
        <p:spPr>
          <a:xfrm>
            <a:off x="1554480" y="3749040"/>
            <a:ext cx="201168" cy="201168"/>
          </a:xfrm>
          <a:prstGeom prst="ellipse">
            <a:avLst/>
          </a:prstGeom>
          <a:solidFill>
            <a:srgbClr val="0E8A8A">
              <a:alpha val="70000"/>
            </a:srgbClr>
          </a:solidFill>
          <a:ln w="12700">
            <a:solidFill>
              <a:srgbClr val="0E8A8A"/>
            </a:solidFill>
            <a:prstDash val="solid"/>
          </a:ln>
        </p:spPr>
        <p:txBody>
          <a:bodyPr/>
          <a:lstStyle/>
          <a:p>
            <a:endParaRPr lang="en-US"/>
          </a:p>
        </p:txBody>
      </p:sp>
      <p:sp>
        <p:nvSpPr>
          <p:cNvPr id="9" name="Shape 7"/>
          <p:cNvSpPr/>
          <p:nvPr/>
        </p:nvSpPr>
        <p:spPr>
          <a:xfrm>
            <a:off x="548640" y="4297680"/>
            <a:ext cx="128016" cy="128016"/>
          </a:xfrm>
          <a:prstGeom prst="ellipse">
            <a:avLst/>
          </a:prstGeom>
          <a:solidFill>
            <a:srgbClr val="5BBFBA">
              <a:alpha val="70000"/>
            </a:srgbClr>
          </a:solidFill>
          <a:ln w="12700">
            <a:solidFill>
              <a:srgbClr val="5BBFBA"/>
            </a:solidFill>
            <a:prstDash val="solid"/>
          </a:ln>
        </p:spPr>
        <p:txBody>
          <a:bodyPr/>
          <a:lstStyle/>
          <a:p>
            <a:endParaRPr lang="en-US"/>
          </a:p>
        </p:txBody>
      </p:sp>
      <p:sp>
        <p:nvSpPr>
          <p:cNvPr id="10" name="Shape 8"/>
          <p:cNvSpPr/>
          <p:nvPr/>
        </p:nvSpPr>
        <p:spPr>
          <a:xfrm>
            <a:off x="2286000" y="4114800"/>
            <a:ext cx="91440" cy="91440"/>
          </a:xfrm>
          <a:prstGeom prst="ellipse">
            <a:avLst/>
          </a:prstGeom>
          <a:solidFill>
            <a:srgbClr val="5BBFBA">
              <a:alpha val="70000"/>
            </a:srgbClr>
          </a:solidFill>
          <a:ln w="12700">
            <a:solidFill>
              <a:srgbClr val="5BBFBA"/>
            </a:solidFill>
            <a:prstDash val="solid"/>
          </a:ln>
        </p:spPr>
        <p:txBody>
          <a:bodyPr/>
          <a:lstStyle/>
          <a:p>
            <a:endParaRPr lang="en-US"/>
          </a:p>
        </p:txBody>
      </p:sp>
      <p:sp>
        <p:nvSpPr>
          <p:cNvPr id="11" name="Text 9"/>
          <p:cNvSpPr/>
          <p:nvPr/>
        </p:nvSpPr>
        <p:spPr>
          <a:xfrm>
            <a:off x="4023360" y="1554480"/>
            <a:ext cx="4846320" cy="822960"/>
          </a:xfrm>
          <a:prstGeom prst="rect">
            <a:avLst/>
          </a:prstGeom>
          <a:noFill/>
          <a:ln/>
        </p:spPr>
        <p:txBody>
          <a:bodyPr wrap="square" lIns="0" tIns="0" rIns="0" bIns="0" rtlCol="0" anchor="ctr"/>
          <a:lstStyle/>
          <a:p>
            <a:pPr marL="0" indent="0" algn="l">
              <a:buNone/>
            </a:pPr>
            <a:r>
              <a:rPr lang="en-US" sz="5400" b="1" dirty="0">
                <a:solidFill>
                  <a:srgbClr val="0F2A4A"/>
                </a:solidFill>
                <a:latin typeface="Calibri" pitchFamily="34" charset="0"/>
                <a:ea typeface="Calibri" pitchFamily="34" charset="-122"/>
                <a:cs typeface="Calibri" pitchFamily="34" charset="-120"/>
              </a:rPr>
              <a:t>Cirrhosis</a:t>
            </a:r>
            <a:endParaRPr lang="en-US" sz="5400" dirty="0"/>
          </a:p>
        </p:txBody>
      </p:sp>
      <p:sp>
        <p:nvSpPr>
          <p:cNvPr id="12" name="Text 10"/>
          <p:cNvSpPr/>
          <p:nvPr/>
        </p:nvSpPr>
        <p:spPr>
          <a:xfrm>
            <a:off x="4023360" y="2331720"/>
            <a:ext cx="4846320" cy="640080"/>
          </a:xfrm>
          <a:prstGeom prst="rect">
            <a:avLst/>
          </a:prstGeom>
          <a:noFill/>
          <a:ln/>
        </p:spPr>
        <p:txBody>
          <a:bodyPr wrap="square" lIns="0" tIns="0" rIns="0" bIns="0" rtlCol="0" anchor="ctr"/>
          <a:lstStyle/>
          <a:p>
            <a:pPr marL="0" indent="0" algn="l">
              <a:buNone/>
            </a:pPr>
            <a:r>
              <a:rPr lang="en-US" sz="3600" b="1" dirty="0">
                <a:solidFill>
                  <a:srgbClr val="0E8A8A"/>
                </a:solidFill>
                <a:latin typeface="Calibri" pitchFamily="34" charset="0"/>
                <a:ea typeface="Calibri" pitchFamily="34" charset="-122"/>
                <a:cs typeface="Calibri" pitchFamily="34" charset="-120"/>
              </a:rPr>
              <a:t>Survival Prediction</a:t>
            </a:r>
            <a:endParaRPr lang="en-US" sz="3600" dirty="0"/>
          </a:p>
        </p:txBody>
      </p:sp>
      <p:sp>
        <p:nvSpPr>
          <p:cNvPr id="13" name="Shape 11"/>
          <p:cNvSpPr/>
          <p:nvPr/>
        </p:nvSpPr>
        <p:spPr>
          <a:xfrm>
            <a:off x="4023360" y="3108960"/>
            <a:ext cx="640080" cy="36576"/>
          </a:xfrm>
          <a:prstGeom prst="rect">
            <a:avLst/>
          </a:prstGeom>
          <a:solidFill>
            <a:srgbClr val="0E8A8A"/>
          </a:solidFill>
          <a:ln/>
        </p:spPr>
        <p:txBody>
          <a:bodyPr/>
          <a:lstStyle/>
          <a:p>
            <a:endParaRPr lang="en-US"/>
          </a:p>
        </p:txBody>
      </p:sp>
      <p:sp>
        <p:nvSpPr>
          <p:cNvPr id="14" name="Text 12"/>
          <p:cNvSpPr/>
          <p:nvPr/>
        </p:nvSpPr>
        <p:spPr>
          <a:xfrm>
            <a:off x="4023360" y="3246120"/>
            <a:ext cx="4846320" cy="365760"/>
          </a:xfrm>
          <a:prstGeom prst="rect">
            <a:avLst/>
          </a:prstGeom>
          <a:noFill/>
          <a:ln/>
        </p:spPr>
        <p:txBody>
          <a:bodyPr wrap="square" lIns="0" tIns="0" rIns="0" bIns="0" rtlCol="0" anchor="ctr"/>
          <a:lstStyle/>
          <a:p>
            <a:pPr marL="0" indent="0">
              <a:buNone/>
            </a:pPr>
            <a:r>
              <a:rPr lang="en-US" sz="1600" i="1" dirty="0">
                <a:solidFill>
                  <a:srgbClr val="1F2937"/>
                </a:solidFill>
                <a:latin typeface="Calibri" pitchFamily="34" charset="0"/>
                <a:ea typeface="Calibri" pitchFamily="34" charset="-122"/>
                <a:cs typeface="Calibri" pitchFamily="34" charset="-120"/>
              </a:rPr>
              <a:t>A Neural Network Classification Project</a:t>
            </a:r>
            <a:endParaRPr lang="en-US" sz="1600" dirty="0"/>
          </a:p>
        </p:txBody>
      </p:sp>
      <p:sp>
        <p:nvSpPr>
          <p:cNvPr id="15" name="Text 13"/>
          <p:cNvSpPr/>
          <p:nvPr/>
        </p:nvSpPr>
        <p:spPr>
          <a:xfrm>
            <a:off x="4023360" y="4023360"/>
            <a:ext cx="4846320" cy="640080"/>
          </a:xfrm>
          <a:prstGeom prst="rect">
            <a:avLst/>
          </a:prstGeom>
          <a:noFill/>
          <a:ln/>
        </p:spPr>
        <p:txBody>
          <a:bodyPr wrap="square" rtlCol="0" anchor="ctr"/>
          <a:lstStyle/>
          <a:p>
            <a:pPr marL="0" indent="0">
              <a:buNone/>
            </a:pPr>
            <a:r>
              <a:rPr lang="en-US" sz="1300" b="1" dirty="0">
                <a:solidFill>
                  <a:srgbClr val="6B7280"/>
                </a:solidFill>
                <a:latin typeface="Calibri" pitchFamily="34" charset="0"/>
                <a:ea typeface="Calibri" pitchFamily="34" charset="-122"/>
                <a:cs typeface="Calibri" pitchFamily="34" charset="-120"/>
              </a:rPr>
              <a:t>Angela</a:t>
            </a:r>
            <a:endParaRPr lang="en-US" sz="1300" dirty="0"/>
          </a:p>
          <a:p>
            <a:pPr marL="0" indent="0">
              <a:buNone/>
            </a:pPr>
            <a:r>
              <a:rPr lang="en-US" sz="1300" dirty="0">
                <a:solidFill>
                  <a:srgbClr val="6B7280"/>
                </a:solidFill>
                <a:latin typeface="Calibri" pitchFamily="34" charset="0"/>
                <a:ea typeface="Calibri" pitchFamily="34" charset="-122"/>
                <a:cs typeface="Calibri" pitchFamily="34" charset="-120"/>
              </a:rPr>
              <a:t>April 30,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Overview</a:t>
            </a:r>
            <a:endParaRPr lang="en-US" sz="3200" dirty="0"/>
          </a:p>
        </p:txBody>
      </p:sp>
      <p:sp>
        <p:nvSpPr>
          <p:cNvPr id="3" name="Shape 1"/>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Text 2"/>
          <p:cNvSpPr/>
          <p:nvPr/>
        </p:nvSpPr>
        <p:spPr>
          <a:xfrm>
            <a:off x="457200" y="1371600"/>
            <a:ext cx="4846320" cy="3108960"/>
          </a:xfrm>
          <a:prstGeom prst="rect">
            <a:avLst/>
          </a:prstGeom>
          <a:noFill/>
          <a:ln/>
        </p:spPr>
        <p:txBody>
          <a:bodyPr wrap="square" rtlCol="0" anchor="ctr"/>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Goal: predict patient survival from clinical features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Dataset: cirrhosis.csv — 418 patients, 20 columns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Binary classification: survived (1) vs. died (0)</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Built a feed-forward neural network in TensorFlow / Keras</a:t>
            </a:r>
            <a:endParaRPr lang="en-US" sz="1600" dirty="0"/>
          </a:p>
        </p:txBody>
      </p:sp>
      <p:sp>
        <p:nvSpPr>
          <p:cNvPr id="5" name="Shape 3"/>
          <p:cNvSpPr/>
          <p:nvPr/>
        </p:nvSpPr>
        <p:spPr>
          <a:xfrm>
            <a:off x="5669280" y="1371600"/>
            <a:ext cx="2926080" cy="914400"/>
          </a:xfrm>
          <a:prstGeom prst="rect">
            <a:avLst/>
          </a:prstGeom>
          <a:solidFill>
            <a:srgbClr val="F1F6F8"/>
          </a:solidFill>
          <a:ln w="12700">
            <a:solidFill>
              <a:srgbClr val="5BBFBA"/>
            </a:solidFill>
            <a:prstDash val="solid"/>
          </a:ln>
        </p:spPr>
        <p:txBody>
          <a:bodyPr/>
          <a:lstStyle/>
          <a:p>
            <a:endParaRPr lang="en-US"/>
          </a:p>
        </p:txBody>
      </p:sp>
      <p:sp>
        <p:nvSpPr>
          <p:cNvPr id="6" name="Shape 4"/>
          <p:cNvSpPr/>
          <p:nvPr/>
        </p:nvSpPr>
        <p:spPr>
          <a:xfrm>
            <a:off x="5669280" y="1371600"/>
            <a:ext cx="73152" cy="914400"/>
          </a:xfrm>
          <a:prstGeom prst="rect">
            <a:avLst/>
          </a:prstGeom>
          <a:solidFill>
            <a:srgbClr val="0E8A8A"/>
          </a:solidFill>
          <a:ln w="12700">
            <a:solidFill>
              <a:srgbClr val="0E8A8A"/>
            </a:solidFill>
            <a:prstDash val="solid"/>
          </a:ln>
        </p:spPr>
        <p:txBody>
          <a:bodyPr/>
          <a:lstStyle/>
          <a:p>
            <a:endParaRPr lang="en-US"/>
          </a:p>
        </p:txBody>
      </p:sp>
      <p:sp>
        <p:nvSpPr>
          <p:cNvPr id="7" name="Text 5"/>
          <p:cNvSpPr/>
          <p:nvPr/>
        </p:nvSpPr>
        <p:spPr>
          <a:xfrm>
            <a:off x="5852160" y="1417320"/>
            <a:ext cx="1371600" cy="822960"/>
          </a:xfrm>
          <a:prstGeom prst="rect">
            <a:avLst/>
          </a:prstGeom>
          <a:noFill/>
          <a:ln/>
        </p:spPr>
        <p:txBody>
          <a:bodyPr wrap="square" lIns="0" tIns="0" rIns="0" bIns="0" rtlCol="0" anchor="ctr"/>
          <a:lstStyle/>
          <a:p>
            <a:pPr marL="0" indent="0">
              <a:buNone/>
            </a:pPr>
            <a:r>
              <a:rPr lang="en-US" sz="3600" b="1" dirty="0">
                <a:solidFill>
                  <a:srgbClr val="0F2A4A"/>
                </a:solidFill>
                <a:latin typeface="Calibri" pitchFamily="34" charset="0"/>
                <a:ea typeface="Calibri" pitchFamily="34" charset="-122"/>
                <a:cs typeface="Calibri" pitchFamily="34" charset="-120"/>
              </a:rPr>
              <a:t>418</a:t>
            </a:r>
            <a:endParaRPr lang="en-US" sz="3600" dirty="0"/>
          </a:p>
        </p:txBody>
      </p:sp>
      <p:sp>
        <p:nvSpPr>
          <p:cNvPr id="8" name="Text 6"/>
          <p:cNvSpPr/>
          <p:nvPr/>
        </p:nvSpPr>
        <p:spPr>
          <a:xfrm>
            <a:off x="7223760" y="1417320"/>
            <a:ext cx="137160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Patients</a:t>
            </a:r>
            <a:endParaRPr lang="en-US" sz="1200" dirty="0"/>
          </a:p>
        </p:txBody>
      </p:sp>
      <p:sp>
        <p:nvSpPr>
          <p:cNvPr id="9" name="Shape 7"/>
          <p:cNvSpPr/>
          <p:nvPr/>
        </p:nvSpPr>
        <p:spPr>
          <a:xfrm>
            <a:off x="5669280" y="2423160"/>
            <a:ext cx="2926080" cy="914400"/>
          </a:xfrm>
          <a:prstGeom prst="rect">
            <a:avLst/>
          </a:prstGeom>
          <a:solidFill>
            <a:srgbClr val="F1F6F8"/>
          </a:solidFill>
          <a:ln w="12700">
            <a:solidFill>
              <a:srgbClr val="5BBFBA"/>
            </a:solidFill>
            <a:prstDash val="solid"/>
          </a:ln>
        </p:spPr>
        <p:txBody>
          <a:bodyPr/>
          <a:lstStyle/>
          <a:p>
            <a:endParaRPr lang="en-US"/>
          </a:p>
        </p:txBody>
      </p:sp>
      <p:sp>
        <p:nvSpPr>
          <p:cNvPr id="10" name="Shape 8"/>
          <p:cNvSpPr/>
          <p:nvPr/>
        </p:nvSpPr>
        <p:spPr>
          <a:xfrm>
            <a:off x="5669280" y="2423160"/>
            <a:ext cx="73152" cy="914400"/>
          </a:xfrm>
          <a:prstGeom prst="rect">
            <a:avLst/>
          </a:prstGeom>
          <a:solidFill>
            <a:srgbClr val="0E8A8A"/>
          </a:solidFill>
          <a:ln w="12700">
            <a:solidFill>
              <a:srgbClr val="0E8A8A"/>
            </a:solidFill>
            <a:prstDash val="solid"/>
          </a:ln>
        </p:spPr>
        <p:txBody>
          <a:bodyPr/>
          <a:lstStyle/>
          <a:p>
            <a:endParaRPr lang="en-US"/>
          </a:p>
        </p:txBody>
      </p:sp>
      <p:sp>
        <p:nvSpPr>
          <p:cNvPr id="11" name="Text 9"/>
          <p:cNvSpPr/>
          <p:nvPr/>
        </p:nvSpPr>
        <p:spPr>
          <a:xfrm>
            <a:off x="5852160" y="2468880"/>
            <a:ext cx="1371600" cy="822960"/>
          </a:xfrm>
          <a:prstGeom prst="rect">
            <a:avLst/>
          </a:prstGeom>
          <a:noFill/>
          <a:ln/>
        </p:spPr>
        <p:txBody>
          <a:bodyPr wrap="square" lIns="0" tIns="0" rIns="0" bIns="0" rtlCol="0" anchor="ctr"/>
          <a:lstStyle/>
          <a:p>
            <a:pPr marL="0" indent="0">
              <a:buNone/>
            </a:pPr>
            <a:r>
              <a:rPr lang="en-US" sz="3600" b="1" dirty="0">
                <a:solidFill>
                  <a:srgbClr val="0F2A4A"/>
                </a:solidFill>
                <a:latin typeface="Calibri" pitchFamily="34" charset="0"/>
                <a:ea typeface="Calibri" pitchFamily="34" charset="-122"/>
                <a:cs typeface="Calibri" pitchFamily="34" charset="-120"/>
              </a:rPr>
              <a:t>20</a:t>
            </a:r>
            <a:endParaRPr lang="en-US" sz="3600" dirty="0"/>
          </a:p>
        </p:txBody>
      </p:sp>
      <p:sp>
        <p:nvSpPr>
          <p:cNvPr id="12" name="Text 10"/>
          <p:cNvSpPr/>
          <p:nvPr/>
        </p:nvSpPr>
        <p:spPr>
          <a:xfrm>
            <a:off x="7223760" y="2468880"/>
            <a:ext cx="137160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Features used</a:t>
            </a:r>
            <a:endParaRPr lang="en-US" sz="1200" dirty="0"/>
          </a:p>
        </p:txBody>
      </p:sp>
      <p:sp>
        <p:nvSpPr>
          <p:cNvPr id="13" name="Shape 11"/>
          <p:cNvSpPr/>
          <p:nvPr/>
        </p:nvSpPr>
        <p:spPr>
          <a:xfrm>
            <a:off x="5669280" y="3474720"/>
            <a:ext cx="2926080" cy="914400"/>
          </a:xfrm>
          <a:prstGeom prst="rect">
            <a:avLst/>
          </a:prstGeom>
          <a:solidFill>
            <a:srgbClr val="F1F6F8"/>
          </a:solidFill>
          <a:ln w="12700">
            <a:solidFill>
              <a:srgbClr val="5BBFBA"/>
            </a:solidFill>
            <a:prstDash val="solid"/>
          </a:ln>
        </p:spPr>
        <p:txBody>
          <a:bodyPr/>
          <a:lstStyle/>
          <a:p>
            <a:endParaRPr lang="en-US"/>
          </a:p>
        </p:txBody>
      </p:sp>
      <p:sp>
        <p:nvSpPr>
          <p:cNvPr id="14" name="Shape 12"/>
          <p:cNvSpPr/>
          <p:nvPr/>
        </p:nvSpPr>
        <p:spPr>
          <a:xfrm>
            <a:off x="5669280" y="3474720"/>
            <a:ext cx="73152" cy="914400"/>
          </a:xfrm>
          <a:prstGeom prst="rect">
            <a:avLst/>
          </a:prstGeom>
          <a:solidFill>
            <a:srgbClr val="0E8A8A"/>
          </a:solidFill>
          <a:ln w="12700">
            <a:solidFill>
              <a:srgbClr val="0E8A8A"/>
            </a:solidFill>
            <a:prstDash val="solid"/>
          </a:ln>
        </p:spPr>
        <p:txBody>
          <a:bodyPr/>
          <a:lstStyle/>
          <a:p>
            <a:endParaRPr lang="en-US"/>
          </a:p>
        </p:txBody>
      </p:sp>
      <p:sp>
        <p:nvSpPr>
          <p:cNvPr id="15" name="Text 13"/>
          <p:cNvSpPr/>
          <p:nvPr/>
        </p:nvSpPr>
        <p:spPr>
          <a:xfrm>
            <a:off x="5852160" y="3520440"/>
            <a:ext cx="1371600" cy="822960"/>
          </a:xfrm>
          <a:prstGeom prst="rect">
            <a:avLst/>
          </a:prstGeom>
          <a:noFill/>
          <a:ln/>
        </p:spPr>
        <p:txBody>
          <a:bodyPr wrap="square" lIns="0" tIns="0" rIns="0" bIns="0" rtlCol="0" anchor="ctr"/>
          <a:lstStyle/>
          <a:p>
            <a:pPr marL="0" indent="0">
              <a:buNone/>
            </a:pPr>
            <a:r>
              <a:rPr lang="en-US" sz="3600" b="1" dirty="0">
                <a:solidFill>
                  <a:srgbClr val="0F2A4A"/>
                </a:solidFill>
                <a:latin typeface="Calibri" pitchFamily="34" charset="0"/>
                <a:ea typeface="Calibri" pitchFamily="34" charset="-122"/>
                <a:cs typeface="Calibri" pitchFamily="34" charset="-120"/>
              </a:rPr>
              <a:t>2</a:t>
            </a:r>
            <a:endParaRPr lang="en-US" sz="3600" dirty="0"/>
          </a:p>
        </p:txBody>
      </p:sp>
      <p:sp>
        <p:nvSpPr>
          <p:cNvPr id="16" name="Text 14"/>
          <p:cNvSpPr/>
          <p:nvPr/>
        </p:nvSpPr>
        <p:spPr>
          <a:xfrm>
            <a:off x="7223760" y="3520440"/>
            <a:ext cx="1371600" cy="82296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Output classes</a:t>
            </a:r>
            <a:endParaRPr lang="en-US" sz="1200" dirty="0"/>
          </a:p>
        </p:txBody>
      </p:sp>
      <p:sp>
        <p:nvSpPr>
          <p:cNvPr id="17" name="Text 15"/>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10</a:t>
            </a:r>
            <a:endParaRPr lang="en-US" sz="900" dirty="0"/>
          </a:p>
        </p:txBody>
      </p:sp>
      <p:sp>
        <p:nvSpPr>
          <p:cNvPr id="18" name="Text 16"/>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Data Prep</a:t>
            </a:r>
            <a:endParaRPr lang="en-US" sz="3200" dirty="0"/>
          </a:p>
        </p:txBody>
      </p:sp>
      <p:sp>
        <p:nvSpPr>
          <p:cNvPr id="3" name="Shape 1"/>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Text 2"/>
          <p:cNvSpPr/>
          <p:nvPr/>
        </p:nvSpPr>
        <p:spPr>
          <a:xfrm>
            <a:off x="457200" y="1234440"/>
            <a:ext cx="8229600" cy="365760"/>
          </a:xfrm>
          <a:prstGeom prst="rect">
            <a:avLst/>
          </a:prstGeom>
          <a:noFill/>
          <a:ln/>
        </p:spPr>
        <p:txBody>
          <a:bodyPr wrap="square" rtlCol="0" anchor="ctr"/>
          <a:lstStyle/>
          <a:p>
            <a:pPr marL="0" indent="0">
              <a:buNone/>
            </a:pPr>
            <a:r>
              <a:rPr lang="en-US" sz="1400" b="1" dirty="0">
                <a:solidFill>
                  <a:srgbClr val="0E8A8A"/>
                </a:solidFill>
                <a:latin typeface="Calibri" pitchFamily="34" charset="0"/>
                <a:ea typeface="Calibri" pitchFamily="34" charset="-122"/>
                <a:cs typeface="Calibri" pitchFamily="34" charset="-120"/>
              </a:rPr>
              <a:t>Cleaning &amp; Encoding Steps</a:t>
            </a:r>
            <a:endParaRPr lang="en-US" sz="1400" dirty="0"/>
          </a:p>
        </p:txBody>
      </p:sp>
      <p:sp>
        <p:nvSpPr>
          <p:cNvPr id="5" name="Shape 3"/>
          <p:cNvSpPr/>
          <p:nvPr/>
        </p:nvSpPr>
        <p:spPr>
          <a:xfrm>
            <a:off x="502920" y="1728216"/>
            <a:ext cx="384048" cy="384048"/>
          </a:xfrm>
          <a:prstGeom prst="ellipse">
            <a:avLst/>
          </a:prstGeom>
          <a:solidFill>
            <a:srgbClr val="0E8A8A"/>
          </a:solidFill>
          <a:ln w="12700">
            <a:solidFill>
              <a:srgbClr val="0E8A8A"/>
            </a:solidFill>
            <a:prstDash val="solid"/>
          </a:ln>
        </p:spPr>
        <p:txBody>
          <a:bodyPr/>
          <a:lstStyle/>
          <a:p>
            <a:endParaRPr lang="en-US"/>
          </a:p>
        </p:txBody>
      </p:sp>
      <p:sp>
        <p:nvSpPr>
          <p:cNvPr id="6" name="Text 4"/>
          <p:cNvSpPr/>
          <p:nvPr/>
        </p:nvSpPr>
        <p:spPr>
          <a:xfrm>
            <a:off x="502920" y="17282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51560" y="169164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Drop missing rows</a:t>
            </a:r>
            <a:endParaRPr lang="en-US" sz="1400" dirty="0"/>
          </a:p>
        </p:txBody>
      </p:sp>
      <p:sp>
        <p:nvSpPr>
          <p:cNvPr id="8" name="Text 6"/>
          <p:cNvSpPr/>
          <p:nvPr/>
        </p:nvSpPr>
        <p:spPr>
          <a:xfrm>
            <a:off x="3840480" y="169164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418 → 276 patients with complete data</a:t>
            </a:r>
            <a:endParaRPr lang="en-US" sz="1300" dirty="0"/>
          </a:p>
        </p:txBody>
      </p:sp>
      <p:sp>
        <p:nvSpPr>
          <p:cNvPr id="9" name="Shape 7"/>
          <p:cNvSpPr/>
          <p:nvPr/>
        </p:nvSpPr>
        <p:spPr>
          <a:xfrm>
            <a:off x="502920" y="2231136"/>
            <a:ext cx="384048" cy="384048"/>
          </a:xfrm>
          <a:prstGeom prst="ellipse">
            <a:avLst/>
          </a:prstGeom>
          <a:solidFill>
            <a:srgbClr val="0E8A8A"/>
          </a:solidFill>
          <a:ln w="12700">
            <a:solidFill>
              <a:srgbClr val="0E8A8A"/>
            </a:solidFill>
            <a:prstDash val="solid"/>
          </a:ln>
        </p:spPr>
        <p:txBody>
          <a:bodyPr/>
          <a:lstStyle/>
          <a:p>
            <a:endParaRPr lang="en-US"/>
          </a:p>
        </p:txBody>
      </p:sp>
      <p:sp>
        <p:nvSpPr>
          <p:cNvPr id="10" name="Text 8"/>
          <p:cNvSpPr/>
          <p:nvPr/>
        </p:nvSpPr>
        <p:spPr>
          <a:xfrm>
            <a:off x="502920" y="223113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051560" y="219456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Drop unused columns</a:t>
            </a:r>
            <a:endParaRPr lang="en-US" sz="1400" dirty="0"/>
          </a:p>
        </p:txBody>
      </p:sp>
      <p:sp>
        <p:nvSpPr>
          <p:cNvPr id="12" name="Text 10"/>
          <p:cNvSpPr/>
          <p:nvPr/>
        </p:nvSpPr>
        <p:spPr>
          <a:xfrm>
            <a:off x="3840480" y="219456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ID, N_Days, Status, Drug</a:t>
            </a:r>
            <a:endParaRPr lang="en-US" sz="1300" dirty="0"/>
          </a:p>
        </p:txBody>
      </p:sp>
      <p:sp>
        <p:nvSpPr>
          <p:cNvPr id="13" name="Shape 11"/>
          <p:cNvSpPr/>
          <p:nvPr/>
        </p:nvSpPr>
        <p:spPr>
          <a:xfrm>
            <a:off x="502920" y="2734056"/>
            <a:ext cx="384048" cy="384048"/>
          </a:xfrm>
          <a:prstGeom prst="ellipse">
            <a:avLst/>
          </a:prstGeom>
          <a:solidFill>
            <a:srgbClr val="0E8A8A"/>
          </a:solidFill>
          <a:ln w="12700">
            <a:solidFill>
              <a:srgbClr val="0E8A8A"/>
            </a:solidFill>
            <a:prstDash val="solid"/>
          </a:ln>
        </p:spPr>
        <p:txBody>
          <a:bodyPr/>
          <a:lstStyle/>
          <a:p>
            <a:endParaRPr lang="en-US"/>
          </a:p>
        </p:txBody>
      </p:sp>
      <p:sp>
        <p:nvSpPr>
          <p:cNvPr id="14" name="Text 12"/>
          <p:cNvSpPr/>
          <p:nvPr/>
        </p:nvSpPr>
        <p:spPr>
          <a:xfrm>
            <a:off x="502920" y="273405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051560" y="269748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One-hot encode</a:t>
            </a:r>
            <a:endParaRPr lang="en-US" sz="1400" dirty="0"/>
          </a:p>
        </p:txBody>
      </p:sp>
      <p:sp>
        <p:nvSpPr>
          <p:cNvPr id="16" name="Text 14"/>
          <p:cNvSpPr/>
          <p:nvPr/>
        </p:nvSpPr>
        <p:spPr>
          <a:xfrm>
            <a:off x="3840480" y="269748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Edema column (Y / N / S categories)</a:t>
            </a:r>
            <a:endParaRPr lang="en-US" sz="1300" dirty="0"/>
          </a:p>
        </p:txBody>
      </p:sp>
      <p:sp>
        <p:nvSpPr>
          <p:cNvPr id="17" name="Shape 15"/>
          <p:cNvSpPr/>
          <p:nvPr/>
        </p:nvSpPr>
        <p:spPr>
          <a:xfrm>
            <a:off x="502920" y="3236976"/>
            <a:ext cx="384048" cy="384048"/>
          </a:xfrm>
          <a:prstGeom prst="ellipse">
            <a:avLst/>
          </a:prstGeom>
          <a:solidFill>
            <a:srgbClr val="0E8A8A"/>
          </a:solidFill>
          <a:ln w="12700">
            <a:solidFill>
              <a:srgbClr val="0E8A8A"/>
            </a:solidFill>
            <a:prstDash val="solid"/>
          </a:ln>
        </p:spPr>
        <p:txBody>
          <a:bodyPr/>
          <a:lstStyle/>
          <a:p>
            <a:endParaRPr lang="en-US"/>
          </a:p>
        </p:txBody>
      </p:sp>
      <p:sp>
        <p:nvSpPr>
          <p:cNvPr id="18" name="Text 16"/>
          <p:cNvSpPr/>
          <p:nvPr/>
        </p:nvSpPr>
        <p:spPr>
          <a:xfrm>
            <a:off x="502920" y="32369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051560" y="320040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Map binary text</a:t>
            </a:r>
            <a:endParaRPr lang="en-US" sz="1400" dirty="0"/>
          </a:p>
        </p:txBody>
      </p:sp>
      <p:sp>
        <p:nvSpPr>
          <p:cNvPr id="20" name="Text 18"/>
          <p:cNvSpPr/>
          <p:nvPr/>
        </p:nvSpPr>
        <p:spPr>
          <a:xfrm>
            <a:off x="3840480" y="320040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Sex F→1, M→0   |   Y→1, N→0</a:t>
            </a:r>
            <a:endParaRPr lang="en-US" sz="1300" dirty="0"/>
          </a:p>
        </p:txBody>
      </p:sp>
      <p:sp>
        <p:nvSpPr>
          <p:cNvPr id="21" name="Shape 19"/>
          <p:cNvSpPr/>
          <p:nvPr/>
        </p:nvSpPr>
        <p:spPr>
          <a:xfrm>
            <a:off x="502920" y="3739896"/>
            <a:ext cx="384048" cy="384048"/>
          </a:xfrm>
          <a:prstGeom prst="ellipse">
            <a:avLst/>
          </a:prstGeom>
          <a:solidFill>
            <a:srgbClr val="0E8A8A"/>
          </a:solidFill>
          <a:ln w="12700">
            <a:solidFill>
              <a:srgbClr val="0E8A8A"/>
            </a:solidFill>
            <a:prstDash val="solid"/>
          </a:ln>
        </p:spPr>
        <p:txBody>
          <a:bodyPr/>
          <a:lstStyle/>
          <a:p>
            <a:endParaRPr lang="en-US"/>
          </a:p>
        </p:txBody>
      </p:sp>
      <p:sp>
        <p:nvSpPr>
          <p:cNvPr id="22" name="Text 20"/>
          <p:cNvSpPr/>
          <p:nvPr/>
        </p:nvSpPr>
        <p:spPr>
          <a:xfrm>
            <a:off x="502920"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051560" y="370332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Define target y</a:t>
            </a:r>
            <a:endParaRPr lang="en-US" sz="1400" dirty="0"/>
          </a:p>
        </p:txBody>
      </p:sp>
      <p:sp>
        <p:nvSpPr>
          <p:cNvPr id="24" name="Text 22"/>
          <p:cNvSpPr/>
          <p:nvPr/>
        </p:nvSpPr>
        <p:spPr>
          <a:xfrm>
            <a:off x="3840480" y="370332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Status: 'D' → 0 (died), else → 1 (survived)</a:t>
            </a:r>
            <a:endParaRPr lang="en-US" sz="1300" dirty="0"/>
          </a:p>
        </p:txBody>
      </p:sp>
      <p:sp>
        <p:nvSpPr>
          <p:cNvPr id="25" name="Shape 23"/>
          <p:cNvSpPr/>
          <p:nvPr/>
        </p:nvSpPr>
        <p:spPr>
          <a:xfrm>
            <a:off x="502920" y="4242816"/>
            <a:ext cx="384048" cy="384048"/>
          </a:xfrm>
          <a:prstGeom prst="ellipse">
            <a:avLst/>
          </a:prstGeom>
          <a:solidFill>
            <a:srgbClr val="0E8A8A"/>
          </a:solidFill>
          <a:ln w="12700">
            <a:solidFill>
              <a:srgbClr val="0E8A8A"/>
            </a:solidFill>
            <a:prstDash val="solid"/>
          </a:ln>
        </p:spPr>
        <p:txBody>
          <a:bodyPr/>
          <a:lstStyle/>
          <a:p>
            <a:endParaRPr lang="en-US"/>
          </a:p>
        </p:txBody>
      </p:sp>
      <p:sp>
        <p:nvSpPr>
          <p:cNvPr id="26" name="Text 24"/>
          <p:cNvSpPr/>
          <p:nvPr/>
        </p:nvSpPr>
        <p:spPr>
          <a:xfrm>
            <a:off x="502920" y="42428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1051560" y="4206240"/>
            <a:ext cx="2743200" cy="502920"/>
          </a:xfrm>
          <a:prstGeom prst="rect">
            <a:avLst/>
          </a:prstGeom>
          <a:noFill/>
          <a:ln/>
        </p:spPr>
        <p:txBody>
          <a:bodyPr wrap="square" lIns="0" tIns="0" rIns="0" bIns="0" rtlCol="0" anchor="ctr"/>
          <a:lstStyle/>
          <a:p>
            <a:pPr marL="0" indent="0">
              <a:buNone/>
            </a:pPr>
            <a:r>
              <a:rPr lang="en-US" sz="1400" b="1" dirty="0">
                <a:solidFill>
                  <a:srgbClr val="1F2937"/>
                </a:solidFill>
                <a:latin typeface="Calibri" pitchFamily="34" charset="0"/>
                <a:ea typeface="Calibri" pitchFamily="34" charset="-122"/>
                <a:cs typeface="Calibri" pitchFamily="34" charset="-120"/>
              </a:rPr>
              <a:t>Convert all to float</a:t>
            </a:r>
            <a:endParaRPr lang="en-US" sz="1400" dirty="0"/>
          </a:p>
        </p:txBody>
      </p:sp>
      <p:sp>
        <p:nvSpPr>
          <p:cNvPr id="28" name="Text 26"/>
          <p:cNvSpPr/>
          <p:nvPr/>
        </p:nvSpPr>
        <p:spPr>
          <a:xfrm>
            <a:off x="3840480" y="4206240"/>
            <a:ext cx="4937760" cy="5029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ready for the neural network</a:t>
            </a:r>
            <a:endParaRPr lang="en-US" sz="1300" dirty="0"/>
          </a:p>
        </p:txBody>
      </p:sp>
      <p:sp>
        <p:nvSpPr>
          <p:cNvPr id="29" name="Text 27"/>
          <p:cNvSpPr/>
          <p:nvPr/>
        </p:nvSpPr>
        <p:spPr>
          <a:xfrm>
            <a:off x="8225367"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10</a:t>
            </a:r>
            <a:endParaRPr lang="en-US" sz="900" dirty="0"/>
          </a:p>
        </p:txBody>
      </p:sp>
      <p:sp>
        <p:nvSpPr>
          <p:cNvPr id="30" name="Text 28"/>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F62AB6-D1B8-53D0-5F52-6087607D80AD}"/>
              </a:ext>
            </a:extLst>
          </p:cNvPr>
          <p:cNvPicPr>
            <a:picLocks noChangeAspect="1"/>
          </p:cNvPicPr>
          <p:nvPr/>
        </p:nvPicPr>
        <p:blipFill>
          <a:blip r:embed="rId3"/>
          <a:stretch>
            <a:fillRect/>
          </a:stretch>
        </p:blipFill>
        <p:spPr>
          <a:xfrm>
            <a:off x="1738312" y="47625"/>
            <a:ext cx="5488101" cy="5143500"/>
          </a:xfrm>
          <a:prstGeom prst="rect">
            <a:avLst/>
          </a:prstGeom>
        </p:spPr>
      </p:pic>
      <p:sp>
        <p:nvSpPr>
          <p:cNvPr id="2" name="Text 15">
            <a:extLst>
              <a:ext uri="{FF2B5EF4-FFF2-40B4-BE49-F238E27FC236}">
                <a16:creationId xmlns:a16="http://schemas.microsoft.com/office/drawing/2014/main" id="{01280ADE-85A6-298F-7184-E992FC4599BE}"/>
              </a:ext>
            </a:extLst>
          </p:cNvPr>
          <p:cNvSpPr/>
          <p:nvPr/>
        </p:nvSpPr>
        <p:spPr>
          <a:xfrm>
            <a:off x="8233833"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10</a:t>
            </a:r>
            <a:endParaRPr lang="en-US" sz="900" dirty="0"/>
          </a:p>
        </p:txBody>
      </p:sp>
    </p:spTree>
    <p:extLst>
      <p:ext uri="{BB962C8B-B14F-4D97-AF65-F5344CB8AC3E}">
        <p14:creationId xmlns:p14="http://schemas.microsoft.com/office/powerpoint/2010/main" val="4043398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8" name="Shape 14">
            <a:extLst>
              <a:ext uri="{FF2B5EF4-FFF2-40B4-BE49-F238E27FC236}">
                <a16:creationId xmlns:a16="http://schemas.microsoft.com/office/drawing/2014/main" id="{3EC74365-8C94-EEC6-DADE-B76E7D891711}"/>
              </a:ext>
            </a:extLst>
          </p:cNvPr>
          <p:cNvSpPr/>
          <p:nvPr/>
        </p:nvSpPr>
        <p:spPr>
          <a:xfrm>
            <a:off x="5548745" y="1337102"/>
            <a:ext cx="3200400" cy="640080"/>
          </a:xfrm>
          <a:prstGeom prst="roundRect">
            <a:avLst>
              <a:gd name="adj" fmla="val 11429"/>
            </a:avLst>
          </a:prstGeom>
          <a:solidFill>
            <a:srgbClr val="F1F6F8"/>
          </a:solidFill>
          <a:ln w="19050">
            <a:solidFill>
              <a:srgbClr val="7030A0"/>
            </a:solidFill>
            <a:prstDash val="solid"/>
          </a:ln>
        </p:spPr>
        <p:txBody>
          <a:bodyPr/>
          <a:lstStyle/>
          <a:p>
            <a:endParaRPr lang="en-US"/>
          </a:p>
        </p:txBody>
      </p:sp>
      <p:sp>
        <p:nvSpPr>
          <p:cNvPr id="27" name="Shape 14">
            <a:extLst>
              <a:ext uri="{FF2B5EF4-FFF2-40B4-BE49-F238E27FC236}">
                <a16:creationId xmlns:a16="http://schemas.microsoft.com/office/drawing/2014/main" id="{7D3FD607-09B0-8EB9-3D1F-0B5067BB9C3E}"/>
              </a:ext>
            </a:extLst>
          </p:cNvPr>
          <p:cNvSpPr/>
          <p:nvPr/>
        </p:nvSpPr>
        <p:spPr>
          <a:xfrm>
            <a:off x="5548745" y="2187494"/>
            <a:ext cx="3200400" cy="640080"/>
          </a:xfrm>
          <a:prstGeom prst="roundRect">
            <a:avLst>
              <a:gd name="adj" fmla="val 11429"/>
            </a:avLst>
          </a:prstGeom>
          <a:solidFill>
            <a:srgbClr val="F1F6F8"/>
          </a:solidFill>
          <a:ln w="19050">
            <a:solidFill>
              <a:srgbClr val="0E8A8A"/>
            </a:solidFill>
            <a:prstDash val="solid"/>
          </a:ln>
        </p:spPr>
        <p:txBody>
          <a:bodyPr/>
          <a:lstStyle/>
          <a:p>
            <a:endParaRPr lang="en-US"/>
          </a:p>
        </p:txBody>
      </p:sp>
      <p:sp>
        <p:nvSpPr>
          <p:cNvPr id="2" name="Text 0"/>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Training the Model</a:t>
            </a:r>
            <a:endParaRPr lang="en-US" sz="3200" dirty="0"/>
          </a:p>
        </p:txBody>
      </p:sp>
      <p:sp>
        <p:nvSpPr>
          <p:cNvPr id="3" name="Shape 1"/>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Text 2"/>
          <p:cNvSpPr/>
          <p:nvPr/>
        </p:nvSpPr>
        <p:spPr>
          <a:xfrm>
            <a:off x="457200" y="1234440"/>
            <a:ext cx="4572000" cy="365760"/>
          </a:xfrm>
          <a:prstGeom prst="rect">
            <a:avLst/>
          </a:prstGeom>
          <a:noFill/>
          <a:ln/>
        </p:spPr>
        <p:txBody>
          <a:bodyPr wrap="square" rtlCol="0" anchor="ctr"/>
          <a:lstStyle/>
          <a:p>
            <a:pPr marL="0" indent="0">
              <a:buNone/>
            </a:pPr>
            <a:r>
              <a:rPr lang="en-US" sz="1400" b="1" dirty="0">
                <a:solidFill>
                  <a:srgbClr val="0E8A8A"/>
                </a:solidFill>
                <a:latin typeface="Calibri" pitchFamily="34" charset="0"/>
                <a:ea typeface="Calibri" pitchFamily="34" charset="-122"/>
                <a:cs typeface="Calibri" pitchFamily="34" charset="-120"/>
              </a:rPr>
              <a:t>Architecture</a:t>
            </a:r>
            <a:endParaRPr lang="en-US" sz="1400" dirty="0"/>
          </a:p>
        </p:txBody>
      </p:sp>
      <p:sp>
        <p:nvSpPr>
          <p:cNvPr id="5" name="Text 3"/>
          <p:cNvSpPr/>
          <p:nvPr/>
        </p:nvSpPr>
        <p:spPr>
          <a:xfrm>
            <a:off x="457200" y="1600200"/>
            <a:ext cx="4572000" cy="1645920"/>
          </a:xfrm>
          <a:prstGeom prst="rect">
            <a:avLst/>
          </a:prstGeom>
          <a:noFill/>
          <a:ln/>
        </p:spPr>
        <p:txBody>
          <a:bodyPr wrap="square" rtlCol="0" anchor="ct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Sequential feed-forward neural network</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Input layer matches feature count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2 hidden Dense layers (16 neurons, ReLU)</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Output Dense(1) with sigmoid → probability</a:t>
            </a:r>
            <a:endParaRPr lang="en-US" sz="1400" dirty="0"/>
          </a:p>
        </p:txBody>
      </p:sp>
      <p:sp>
        <p:nvSpPr>
          <p:cNvPr id="6" name="Text 4"/>
          <p:cNvSpPr/>
          <p:nvPr/>
        </p:nvSpPr>
        <p:spPr>
          <a:xfrm>
            <a:off x="457200" y="3383280"/>
            <a:ext cx="4572000" cy="365760"/>
          </a:xfrm>
          <a:prstGeom prst="rect">
            <a:avLst/>
          </a:prstGeom>
          <a:noFill/>
          <a:ln/>
        </p:spPr>
        <p:txBody>
          <a:bodyPr wrap="square" rtlCol="0" anchor="ctr"/>
          <a:lstStyle/>
          <a:p>
            <a:pPr marL="0" indent="0">
              <a:buNone/>
            </a:pPr>
            <a:r>
              <a:rPr lang="en-US" sz="1400" b="1" dirty="0">
                <a:solidFill>
                  <a:srgbClr val="0E8A8A"/>
                </a:solidFill>
                <a:latin typeface="Calibri" pitchFamily="34" charset="0"/>
                <a:ea typeface="Calibri" pitchFamily="34" charset="-122"/>
                <a:cs typeface="Calibri" pitchFamily="34" charset="-120"/>
              </a:rPr>
              <a:t>Training Setup</a:t>
            </a:r>
            <a:endParaRPr lang="en-US" sz="1400" dirty="0"/>
          </a:p>
        </p:txBody>
      </p:sp>
      <p:sp>
        <p:nvSpPr>
          <p:cNvPr id="7" name="Text 5"/>
          <p:cNvSpPr/>
          <p:nvPr/>
        </p:nvSpPr>
        <p:spPr>
          <a:xfrm>
            <a:off x="457200" y="3749040"/>
            <a:ext cx="4572000" cy="1188720"/>
          </a:xfrm>
          <a:prstGeom prst="rect">
            <a:avLst/>
          </a:prstGeom>
          <a:noFill/>
          <a:ln/>
        </p:spPr>
        <p:txBody>
          <a:bodyPr wrap="square" rtlCol="0" anchor="ctr"/>
          <a:lstStyle/>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Optimizer: Adam   |   Loss: binary_crossentropy</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80 / 20 train-test split (random_state = 42)</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Features scaled with StandardScaler</a:t>
            </a:r>
            <a:endParaRPr lang="en-US" sz="1300" dirty="0"/>
          </a:p>
          <a:p>
            <a:pPr marL="342900" indent="-3429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Trained for 10 epochs</a:t>
            </a:r>
            <a:endParaRPr lang="en-US" sz="1300" dirty="0"/>
          </a:p>
        </p:txBody>
      </p:sp>
      <p:sp>
        <p:nvSpPr>
          <p:cNvPr id="9" name="Text 7"/>
          <p:cNvSpPr/>
          <p:nvPr/>
        </p:nvSpPr>
        <p:spPr>
          <a:xfrm>
            <a:off x="5669280" y="1371600"/>
            <a:ext cx="1828800" cy="640080"/>
          </a:xfrm>
          <a:prstGeom prst="rect">
            <a:avLst/>
          </a:prstGeom>
          <a:noFill/>
          <a:ln/>
        </p:spPr>
        <p:txBody>
          <a:bodyPr wrap="square" lIns="0" tIns="0" rIns="0" bIns="0" rtlCol="0" anchor="ctr"/>
          <a:lstStyle/>
          <a:p>
            <a:pPr marL="0" indent="0">
              <a:buNone/>
            </a:pPr>
            <a:r>
              <a:rPr lang="en-US" sz="1400" b="1" dirty="0">
                <a:solidFill>
                  <a:srgbClr val="0F2A4A"/>
                </a:solidFill>
                <a:latin typeface="Calibri" pitchFamily="34" charset="0"/>
                <a:ea typeface="Calibri" pitchFamily="34" charset="-122"/>
                <a:cs typeface="Calibri" pitchFamily="34" charset="-120"/>
              </a:rPr>
              <a:t>Input</a:t>
            </a:r>
            <a:endParaRPr lang="en-US" sz="1400" dirty="0"/>
          </a:p>
        </p:txBody>
      </p:sp>
      <p:sp>
        <p:nvSpPr>
          <p:cNvPr id="10" name="Text 8"/>
          <p:cNvSpPr/>
          <p:nvPr/>
        </p:nvSpPr>
        <p:spPr>
          <a:xfrm>
            <a:off x="7315200" y="1371600"/>
            <a:ext cx="1280160" cy="640080"/>
          </a:xfrm>
          <a:prstGeom prst="rect">
            <a:avLst/>
          </a:prstGeom>
          <a:noFill/>
          <a:ln/>
        </p:spPr>
        <p:txBody>
          <a:bodyPr wrap="square" lIns="0" tIns="0" rIns="0" bIns="0" rtlCol="0" anchor="ctr"/>
          <a:lstStyle/>
          <a:p>
            <a:pPr marL="0" indent="0" algn="r">
              <a:buNone/>
            </a:pPr>
            <a:r>
              <a:rPr lang="en-US" sz="1100" i="1" dirty="0">
                <a:solidFill>
                  <a:srgbClr val="6B7280"/>
                </a:solidFill>
                <a:latin typeface="Calibri" pitchFamily="34" charset="0"/>
                <a:ea typeface="Calibri" pitchFamily="34" charset="-122"/>
                <a:cs typeface="Calibri" pitchFamily="34" charset="-120"/>
              </a:rPr>
              <a:t>n features</a:t>
            </a:r>
            <a:endParaRPr lang="en-US" sz="1100" dirty="0"/>
          </a:p>
        </p:txBody>
      </p:sp>
      <p:sp>
        <p:nvSpPr>
          <p:cNvPr id="11" name="Shape 9"/>
          <p:cNvSpPr/>
          <p:nvPr/>
        </p:nvSpPr>
        <p:spPr>
          <a:xfrm>
            <a:off x="7086600" y="2011680"/>
            <a:ext cx="0" cy="164592"/>
          </a:xfrm>
          <a:prstGeom prst="line">
            <a:avLst/>
          </a:prstGeom>
          <a:noFill/>
          <a:ln w="19050">
            <a:solidFill>
              <a:srgbClr val="6B7280"/>
            </a:solidFill>
            <a:prstDash val="solid"/>
            <a:tailEnd type="triangle"/>
          </a:ln>
        </p:spPr>
        <p:txBody>
          <a:bodyPr/>
          <a:lstStyle/>
          <a:p>
            <a:endParaRPr lang="en-US"/>
          </a:p>
        </p:txBody>
      </p:sp>
      <p:sp>
        <p:nvSpPr>
          <p:cNvPr id="13" name="Text 11"/>
          <p:cNvSpPr/>
          <p:nvPr/>
        </p:nvSpPr>
        <p:spPr>
          <a:xfrm>
            <a:off x="5669280" y="2176272"/>
            <a:ext cx="1828800" cy="640080"/>
          </a:xfrm>
          <a:prstGeom prst="rect">
            <a:avLst/>
          </a:prstGeom>
          <a:noFill/>
          <a:ln/>
        </p:spPr>
        <p:txBody>
          <a:bodyPr wrap="square" lIns="0" tIns="0" rIns="0" bIns="0" rtlCol="0" anchor="ctr"/>
          <a:lstStyle/>
          <a:p>
            <a:pPr marL="0" indent="0">
              <a:buNone/>
            </a:pPr>
            <a:r>
              <a:rPr lang="en-US" sz="1400" b="1" dirty="0">
                <a:solidFill>
                  <a:srgbClr val="0E8A8A"/>
                </a:solidFill>
                <a:latin typeface="Calibri" pitchFamily="34" charset="0"/>
                <a:ea typeface="Calibri" pitchFamily="34" charset="-122"/>
                <a:cs typeface="Calibri" pitchFamily="34" charset="-120"/>
              </a:rPr>
              <a:t>Dense(16)</a:t>
            </a:r>
            <a:endParaRPr lang="en-US" sz="1400" dirty="0"/>
          </a:p>
        </p:txBody>
      </p:sp>
      <p:sp>
        <p:nvSpPr>
          <p:cNvPr id="14" name="Text 12"/>
          <p:cNvSpPr/>
          <p:nvPr/>
        </p:nvSpPr>
        <p:spPr>
          <a:xfrm>
            <a:off x="7315200" y="2176272"/>
            <a:ext cx="1280160" cy="640080"/>
          </a:xfrm>
          <a:prstGeom prst="rect">
            <a:avLst/>
          </a:prstGeom>
          <a:noFill/>
          <a:ln/>
        </p:spPr>
        <p:txBody>
          <a:bodyPr wrap="square" lIns="0" tIns="0" rIns="0" bIns="0" rtlCol="0" anchor="ctr"/>
          <a:lstStyle/>
          <a:p>
            <a:pPr marL="0" indent="0" algn="r">
              <a:buNone/>
            </a:pPr>
            <a:r>
              <a:rPr lang="en-US" sz="1100" i="1" dirty="0">
                <a:solidFill>
                  <a:srgbClr val="6B7280"/>
                </a:solidFill>
                <a:latin typeface="Calibri" pitchFamily="34" charset="0"/>
                <a:ea typeface="Calibri" pitchFamily="34" charset="-122"/>
                <a:cs typeface="Calibri" pitchFamily="34" charset="-120"/>
              </a:rPr>
              <a:t>ReLU</a:t>
            </a:r>
            <a:endParaRPr lang="en-US" sz="1100" dirty="0"/>
          </a:p>
        </p:txBody>
      </p:sp>
      <p:sp>
        <p:nvSpPr>
          <p:cNvPr id="15" name="Shape 13"/>
          <p:cNvSpPr/>
          <p:nvPr/>
        </p:nvSpPr>
        <p:spPr>
          <a:xfrm>
            <a:off x="7086600" y="2816352"/>
            <a:ext cx="0" cy="164592"/>
          </a:xfrm>
          <a:prstGeom prst="line">
            <a:avLst/>
          </a:prstGeom>
          <a:noFill/>
          <a:ln w="19050">
            <a:solidFill>
              <a:srgbClr val="6B7280"/>
            </a:solidFill>
            <a:prstDash val="solid"/>
            <a:tailEnd type="triangle"/>
          </a:ln>
        </p:spPr>
        <p:txBody>
          <a:bodyPr/>
          <a:lstStyle/>
          <a:p>
            <a:endParaRPr lang="en-US"/>
          </a:p>
        </p:txBody>
      </p:sp>
      <p:sp>
        <p:nvSpPr>
          <p:cNvPr id="16" name="Shape 14"/>
          <p:cNvSpPr/>
          <p:nvPr/>
        </p:nvSpPr>
        <p:spPr>
          <a:xfrm>
            <a:off x="5486400" y="2980944"/>
            <a:ext cx="3200400" cy="640080"/>
          </a:xfrm>
          <a:prstGeom prst="roundRect">
            <a:avLst>
              <a:gd name="adj" fmla="val 11429"/>
            </a:avLst>
          </a:prstGeom>
          <a:solidFill>
            <a:srgbClr val="F1F6F8"/>
          </a:solidFill>
          <a:ln w="19050">
            <a:solidFill>
              <a:srgbClr val="0E8A8A"/>
            </a:solidFill>
            <a:prstDash val="solid"/>
          </a:ln>
        </p:spPr>
        <p:txBody>
          <a:bodyPr/>
          <a:lstStyle/>
          <a:p>
            <a:endParaRPr lang="en-US"/>
          </a:p>
        </p:txBody>
      </p:sp>
      <p:sp>
        <p:nvSpPr>
          <p:cNvPr id="17" name="Text 15"/>
          <p:cNvSpPr/>
          <p:nvPr/>
        </p:nvSpPr>
        <p:spPr>
          <a:xfrm>
            <a:off x="5669280" y="2980944"/>
            <a:ext cx="1828800" cy="640080"/>
          </a:xfrm>
          <a:prstGeom prst="rect">
            <a:avLst/>
          </a:prstGeom>
          <a:noFill/>
          <a:ln/>
        </p:spPr>
        <p:txBody>
          <a:bodyPr wrap="square" lIns="0" tIns="0" rIns="0" bIns="0" rtlCol="0" anchor="ctr"/>
          <a:lstStyle/>
          <a:p>
            <a:pPr marL="0" indent="0">
              <a:buNone/>
            </a:pPr>
            <a:r>
              <a:rPr lang="en-US" sz="1400" b="1" dirty="0">
                <a:solidFill>
                  <a:srgbClr val="0E8A8A"/>
                </a:solidFill>
                <a:latin typeface="Calibri" pitchFamily="34" charset="0"/>
                <a:ea typeface="Calibri" pitchFamily="34" charset="-122"/>
                <a:cs typeface="Calibri" pitchFamily="34" charset="-120"/>
              </a:rPr>
              <a:t>Dense(16)</a:t>
            </a:r>
            <a:endParaRPr lang="en-US" sz="1400" dirty="0"/>
          </a:p>
        </p:txBody>
      </p:sp>
      <p:sp>
        <p:nvSpPr>
          <p:cNvPr id="18" name="Text 16"/>
          <p:cNvSpPr/>
          <p:nvPr/>
        </p:nvSpPr>
        <p:spPr>
          <a:xfrm>
            <a:off x="7315200" y="2980944"/>
            <a:ext cx="1280160" cy="640080"/>
          </a:xfrm>
          <a:prstGeom prst="rect">
            <a:avLst/>
          </a:prstGeom>
          <a:noFill/>
          <a:ln/>
        </p:spPr>
        <p:txBody>
          <a:bodyPr wrap="square" lIns="0" tIns="0" rIns="0" bIns="0" rtlCol="0" anchor="ctr"/>
          <a:lstStyle/>
          <a:p>
            <a:pPr marL="0" indent="0" algn="r">
              <a:buNone/>
            </a:pPr>
            <a:r>
              <a:rPr lang="en-US" sz="1100" i="1" dirty="0">
                <a:solidFill>
                  <a:srgbClr val="6B7280"/>
                </a:solidFill>
                <a:latin typeface="Calibri" pitchFamily="34" charset="0"/>
                <a:ea typeface="Calibri" pitchFamily="34" charset="-122"/>
                <a:cs typeface="Calibri" pitchFamily="34" charset="-120"/>
              </a:rPr>
              <a:t>ReLU</a:t>
            </a:r>
            <a:endParaRPr lang="en-US" sz="1100" dirty="0"/>
          </a:p>
        </p:txBody>
      </p:sp>
      <p:sp>
        <p:nvSpPr>
          <p:cNvPr id="19" name="Shape 17"/>
          <p:cNvSpPr/>
          <p:nvPr/>
        </p:nvSpPr>
        <p:spPr>
          <a:xfrm>
            <a:off x="7086600" y="3621024"/>
            <a:ext cx="0" cy="164592"/>
          </a:xfrm>
          <a:prstGeom prst="line">
            <a:avLst/>
          </a:prstGeom>
          <a:noFill/>
          <a:ln w="19050">
            <a:solidFill>
              <a:srgbClr val="6B7280"/>
            </a:solidFill>
            <a:prstDash val="solid"/>
            <a:tailEnd type="triangle"/>
          </a:ln>
        </p:spPr>
        <p:txBody>
          <a:bodyPr/>
          <a:lstStyle/>
          <a:p>
            <a:endParaRPr lang="en-US"/>
          </a:p>
        </p:txBody>
      </p:sp>
      <p:sp>
        <p:nvSpPr>
          <p:cNvPr id="20" name="Shape 18"/>
          <p:cNvSpPr/>
          <p:nvPr/>
        </p:nvSpPr>
        <p:spPr>
          <a:xfrm>
            <a:off x="5486400" y="3785616"/>
            <a:ext cx="3200400" cy="640080"/>
          </a:xfrm>
          <a:prstGeom prst="roundRect">
            <a:avLst>
              <a:gd name="adj" fmla="val 11429"/>
            </a:avLst>
          </a:prstGeom>
          <a:solidFill>
            <a:srgbClr val="F1F6F8"/>
          </a:solidFill>
          <a:ln w="19050">
            <a:solidFill>
              <a:srgbClr val="B45309"/>
            </a:solidFill>
            <a:prstDash val="solid"/>
          </a:ln>
        </p:spPr>
        <p:txBody>
          <a:bodyPr/>
          <a:lstStyle/>
          <a:p>
            <a:endParaRPr lang="en-US"/>
          </a:p>
        </p:txBody>
      </p:sp>
      <p:sp>
        <p:nvSpPr>
          <p:cNvPr id="21" name="Text 19"/>
          <p:cNvSpPr/>
          <p:nvPr/>
        </p:nvSpPr>
        <p:spPr>
          <a:xfrm>
            <a:off x="5669280" y="3785616"/>
            <a:ext cx="1828800" cy="640080"/>
          </a:xfrm>
          <a:prstGeom prst="rect">
            <a:avLst/>
          </a:prstGeom>
          <a:noFill/>
          <a:ln/>
        </p:spPr>
        <p:txBody>
          <a:bodyPr wrap="square" lIns="0" tIns="0" rIns="0" bIns="0" rtlCol="0" anchor="ctr"/>
          <a:lstStyle/>
          <a:p>
            <a:pPr marL="0" indent="0">
              <a:buNone/>
            </a:pPr>
            <a:r>
              <a:rPr lang="en-US" sz="1400" b="1" dirty="0">
                <a:solidFill>
                  <a:srgbClr val="B45309"/>
                </a:solidFill>
                <a:latin typeface="Calibri" pitchFamily="34" charset="0"/>
                <a:ea typeface="Calibri" pitchFamily="34" charset="-122"/>
                <a:cs typeface="Calibri" pitchFamily="34" charset="-120"/>
              </a:rPr>
              <a:t>Dense(1)</a:t>
            </a:r>
            <a:endParaRPr lang="en-US" sz="1400" dirty="0"/>
          </a:p>
        </p:txBody>
      </p:sp>
      <p:sp>
        <p:nvSpPr>
          <p:cNvPr id="22" name="Text 20"/>
          <p:cNvSpPr/>
          <p:nvPr/>
        </p:nvSpPr>
        <p:spPr>
          <a:xfrm>
            <a:off x="7315200" y="3785616"/>
            <a:ext cx="1280160" cy="640080"/>
          </a:xfrm>
          <a:prstGeom prst="rect">
            <a:avLst/>
          </a:prstGeom>
          <a:noFill/>
          <a:ln/>
        </p:spPr>
        <p:txBody>
          <a:bodyPr wrap="square" lIns="0" tIns="0" rIns="0" bIns="0" rtlCol="0" anchor="ctr"/>
          <a:lstStyle/>
          <a:p>
            <a:pPr marL="0" indent="0" algn="r">
              <a:buNone/>
            </a:pPr>
            <a:r>
              <a:rPr lang="en-US" sz="1100" i="1" dirty="0">
                <a:solidFill>
                  <a:srgbClr val="6B7280"/>
                </a:solidFill>
                <a:latin typeface="Calibri" pitchFamily="34" charset="0"/>
                <a:ea typeface="Calibri" pitchFamily="34" charset="-122"/>
                <a:cs typeface="Calibri" pitchFamily="34" charset="-120"/>
              </a:rPr>
              <a:t>Sigmoid</a:t>
            </a:r>
            <a:endParaRPr lang="en-US" sz="1100" dirty="0"/>
          </a:p>
        </p:txBody>
      </p:sp>
      <p:sp>
        <p:nvSpPr>
          <p:cNvPr id="23" name="Text 21"/>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10</a:t>
            </a:r>
            <a:endParaRPr lang="en-US" sz="900" dirty="0"/>
          </a:p>
        </p:txBody>
      </p:sp>
      <p:sp>
        <p:nvSpPr>
          <p:cNvPr id="24" name="Text 22"/>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6AC8F18-E0EF-D2F4-0E4C-117B7C7F57D5}"/>
              </a:ext>
            </a:extLst>
          </p:cNvPr>
          <p:cNvPicPr>
            <a:picLocks noChangeAspect="1"/>
          </p:cNvPicPr>
          <p:nvPr/>
        </p:nvPicPr>
        <p:blipFill>
          <a:blip r:embed="rId3"/>
          <a:stretch>
            <a:fillRect/>
          </a:stretch>
        </p:blipFill>
        <p:spPr>
          <a:xfrm>
            <a:off x="42334" y="58772"/>
            <a:ext cx="9144000" cy="2663755"/>
          </a:xfrm>
          <a:prstGeom prst="rect">
            <a:avLst/>
          </a:prstGeom>
        </p:spPr>
      </p:pic>
      <p:sp>
        <p:nvSpPr>
          <p:cNvPr id="2" name="Text 15">
            <a:extLst>
              <a:ext uri="{FF2B5EF4-FFF2-40B4-BE49-F238E27FC236}">
                <a16:creationId xmlns:a16="http://schemas.microsoft.com/office/drawing/2014/main" id="{87F422C8-0F58-696E-0E29-90CADDABF878}"/>
              </a:ext>
            </a:extLst>
          </p:cNvPr>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10</a:t>
            </a:r>
            <a:endParaRPr lang="en-US" sz="900" dirty="0"/>
          </a:p>
        </p:txBody>
      </p:sp>
    </p:spTree>
    <p:extLst>
      <p:ext uri="{BB962C8B-B14F-4D97-AF65-F5344CB8AC3E}">
        <p14:creationId xmlns:p14="http://schemas.microsoft.com/office/powerpoint/2010/main" val="325116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5760" y="-1407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Training History</a:t>
            </a:r>
            <a:endParaRPr lang="en-US" sz="3200" dirty="0"/>
          </a:p>
        </p:txBody>
      </p:sp>
      <p:sp>
        <p:nvSpPr>
          <p:cNvPr id="3" name="Shape 1"/>
          <p:cNvSpPr/>
          <p:nvPr/>
        </p:nvSpPr>
        <p:spPr>
          <a:xfrm>
            <a:off x="365760" y="539419"/>
            <a:ext cx="502920" cy="45720"/>
          </a:xfrm>
          <a:prstGeom prst="rect">
            <a:avLst/>
          </a:prstGeom>
          <a:solidFill>
            <a:srgbClr val="0E8A8A"/>
          </a:solidFill>
          <a:ln w="12700">
            <a:solidFill>
              <a:srgbClr val="0E8A8A"/>
            </a:solidFill>
            <a:prstDash val="solid"/>
          </a:ln>
        </p:spPr>
        <p:txBody>
          <a:bodyPr/>
          <a:lstStyle/>
          <a:p>
            <a:endParaRPr lang="en-US"/>
          </a:p>
        </p:txBody>
      </p:sp>
      <p:sp>
        <p:nvSpPr>
          <p:cNvPr id="4" name="Text 2"/>
          <p:cNvSpPr/>
          <p:nvPr/>
        </p:nvSpPr>
        <p:spPr>
          <a:xfrm>
            <a:off x="311728" y="603150"/>
            <a:ext cx="8229600" cy="320040"/>
          </a:xfrm>
          <a:prstGeom prst="rect">
            <a:avLst/>
          </a:prstGeom>
          <a:noFill/>
          <a:ln/>
        </p:spPr>
        <p:txBody>
          <a:bodyPr wrap="square" rtlCol="0" anchor="ctr"/>
          <a:lstStyle/>
          <a:p>
            <a:pPr marL="0" indent="0">
              <a:buNone/>
            </a:pPr>
            <a:r>
              <a:rPr lang="en-US" sz="1300" i="1" dirty="0">
                <a:solidFill>
                  <a:srgbClr val="6B7280"/>
                </a:solidFill>
                <a:latin typeface="Calibri" pitchFamily="34" charset="0"/>
                <a:ea typeface="Calibri" pitchFamily="34" charset="-122"/>
                <a:cs typeface="Calibri" pitchFamily="34" charset="-120"/>
              </a:rPr>
              <a:t>Accuracy and loss across 10 epochs</a:t>
            </a:r>
            <a:endParaRPr lang="en-US" sz="1300" dirty="0"/>
          </a:p>
        </p:txBody>
      </p:sp>
      <p:sp>
        <p:nvSpPr>
          <p:cNvPr id="6" name="Shape 3"/>
          <p:cNvSpPr/>
          <p:nvPr/>
        </p:nvSpPr>
        <p:spPr>
          <a:xfrm>
            <a:off x="6400800" y="1554480"/>
            <a:ext cx="2377440" cy="3108960"/>
          </a:xfrm>
          <a:prstGeom prst="rect">
            <a:avLst/>
          </a:prstGeom>
          <a:solidFill>
            <a:srgbClr val="F1F6F8"/>
          </a:solidFill>
          <a:ln w="12700">
            <a:solidFill>
              <a:srgbClr val="5BBFBA"/>
            </a:solidFill>
            <a:prstDash val="solid"/>
          </a:ln>
        </p:spPr>
        <p:txBody>
          <a:bodyPr/>
          <a:lstStyle/>
          <a:p>
            <a:endParaRPr lang="en-US"/>
          </a:p>
        </p:txBody>
      </p:sp>
      <p:sp>
        <p:nvSpPr>
          <p:cNvPr id="7" name="Text 4"/>
          <p:cNvSpPr/>
          <p:nvPr/>
        </p:nvSpPr>
        <p:spPr>
          <a:xfrm>
            <a:off x="6537960" y="1645920"/>
            <a:ext cx="2194560" cy="320040"/>
          </a:xfrm>
          <a:prstGeom prst="rect">
            <a:avLst/>
          </a:prstGeom>
          <a:noFill/>
          <a:ln/>
        </p:spPr>
        <p:txBody>
          <a:bodyPr wrap="square" lIns="0" tIns="0" rIns="0" bIns="0" rtlCol="0" anchor="ctr"/>
          <a:lstStyle/>
          <a:p>
            <a:pPr marL="0" indent="0">
              <a:buNone/>
            </a:pPr>
            <a:r>
              <a:rPr lang="en-US" sz="1300" b="1" dirty="0">
                <a:solidFill>
                  <a:srgbClr val="0E8A8A"/>
                </a:solidFill>
                <a:latin typeface="Calibri" pitchFamily="34" charset="0"/>
                <a:ea typeface="Calibri" pitchFamily="34" charset="-122"/>
                <a:cs typeface="Calibri" pitchFamily="34" charset="-120"/>
              </a:rPr>
              <a:t>Takeaways</a:t>
            </a:r>
            <a:endParaRPr lang="en-US" sz="1300" dirty="0"/>
          </a:p>
        </p:txBody>
      </p:sp>
      <p:sp>
        <p:nvSpPr>
          <p:cNvPr id="8" name="Text 5"/>
          <p:cNvSpPr/>
          <p:nvPr/>
        </p:nvSpPr>
        <p:spPr>
          <a:xfrm>
            <a:off x="6537960" y="2011680"/>
            <a:ext cx="2194560" cy="2560320"/>
          </a:xfrm>
          <a:prstGeom prst="rect">
            <a:avLst/>
          </a:prstGeom>
          <a:noFill/>
          <a:ln/>
        </p:spPr>
        <p:txBody>
          <a:bodyPr wrap="square" rtlCol="0" anchor="t"/>
          <a:lstStyle/>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Accuracy climbed from 60% to 78%</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Loss steadily decreased each epoch</a:t>
            </a:r>
            <a:endParaRPr lang="en-US" sz="1100" dirty="0"/>
          </a:p>
          <a:p>
            <a:pPr marL="342900" indent="-342900">
              <a:spcAft>
                <a:spcPts val="600"/>
              </a:spcAft>
              <a:buSzPct val="100000"/>
              <a:buChar char="•"/>
            </a:pPr>
            <a:r>
              <a:rPr lang="en-US" sz="1100" dirty="0">
                <a:solidFill>
                  <a:srgbClr val="1F2937"/>
                </a:solidFill>
                <a:latin typeface="Calibri" pitchFamily="34" charset="0"/>
                <a:ea typeface="Calibri" pitchFamily="34" charset="-122"/>
                <a:cs typeface="Calibri" pitchFamily="34" charset="-120"/>
              </a:rPr>
              <a:t>Curves are smooth — no signs of overfitting</a:t>
            </a:r>
            <a:endParaRPr lang="en-US" sz="1100" dirty="0"/>
          </a:p>
        </p:txBody>
      </p:sp>
      <p:sp>
        <p:nvSpPr>
          <p:cNvPr id="9" name="Text 6"/>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10</a:t>
            </a:r>
            <a:endParaRPr lang="en-US" sz="900" dirty="0"/>
          </a:p>
        </p:txBody>
      </p:sp>
      <p:sp>
        <p:nvSpPr>
          <p:cNvPr id="10" name="Text 7"/>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pic>
        <p:nvPicPr>
          <p:cNvPr id="16" name="Picture 15">
            <a:extLst>
              <a:ext uri="{FF2B5EF4-FFF2-40B4-BE49-F238E27FC236}">
                <a16:creationId xmlns:a16="http://schemas.microsoft.com/office/drawing/2014/main" id="{D3CA95B1-2762-91D9-13E8-206A37F72367}"/>
              </a:ext>
            </a:extLst>
          </p:cNvPr>
          <p:cNvPicPr>
            <a:picLocks noChangeAspect="1"/>
          </p:cNvPicPr>
          <p:nvPr/>
        </p:nvPicPr>
        <p:blipFill>
          <a:blip r:embed="rId3"/>
          <a:stretch>
            <a:fillRect/>
          </a:stretch>
        </p:blipFill>
        <p:spPr>
          <a:xfrm>
            <a:off x="365760" y="1200150"/>
            <a:ext cx="5800000" cy="283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Results</a:t>
            </a:r>
            <a:endParaRPr lang="en-US" sz="3200" dirty="0"/>
          </a:p>
        </p:txBody>
      </p:sp>
      <p:sp>
        <p:nvSpPr>
          <p:cNvPr id="3" name="Shape 1"/>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Shape 2"/>
          <p:cNvSpPr/>
          <p:nvPr/>
        </p:nvSpPr>
        <p:spPr>
          <a:xfrm>
            <a:off x="457200" y="1435608"/>
            <a:ext cx="2103120" cy="1828800"/>
          </a:xfrm>
          <a:prstGeom prst="rect">
            <a:avLst/>
          </a:prstGeom>
          <a:solidFill>
            <a:srgbClr val="F1F6F8"/>
          </a:solidFill>
          <a:ln w="12700">
            <a:solidFill>
              <a:srgbClr val="0F2A4A"/>
            </a:solidFill>
            <a:prstDash val="solid"/>
          </a:ln>
        </p:spPr>
        <p:txBody>
          <a:bodyPr/>
          <a:lstStyle/>
          <a:p>
            <a:endParaRPr lang="en-US"/>
          </a:p>
        </p:txBody>
      </p:sp>
      <p:sp>
        <p:nvSpPr>
          <p:cNvPr id="5" name="Shape 3"/>
          <p:cNvSpPr/>
          <p:nvPr/>
        </p:nvSpPr>
        <p:spPr>
          <a:xfrm>
            <a:off x="457200" y="1417320"/>
            <a:ext cx="2103120" cy="73152"/>
          </a:xfrm>
          <a:prstGeom prst="rect">
            <a:avLst/>
          </a:prstGeom>
          <a:solidFill>
            <a:srgbClr val="0F2A4A"/>
          </a:solidFill>
          <a:ln w="12700">
            <a:solidFill>
              <a:srgbClr val="0F2A4A"/>
            </a:solidFill>
            <a:prstDash val="solid"/>
          </a:ln>
        </p:spPr>
        <p:txBody>
          <a:bodyPr/>
          <a:lstStyle/>
          <a:p>
            <a:endParaRPr lang="en-US"/>
          </a:p>
        </p:txBody>
      </p:sp>
      <p:sp>
        <p:nvSpPr>
          <p:cNvPr id="6" name="Text 4"/>
          <p:cNvSpPr/>
          <p:nvPr/>
        </p:nvSpPr>
        <p:spPr>
          <a:xfrm>
            <a:off x="457200" y="1600200"/>
            <a:ext cx="2103120" cy="1005840"/>
          </a:xfrm>
          <a:prstGeom prst="rect">
            <a:avLst/>
          </a:prstGeom>
          <a:noFill/>
          <a:ln/>
        </p:spPr>
        <p:txBody>
          <a:bodyPr wrap="square" lIns="0" tIns="0" rIns="0" bIns="0" rtlCol="0" anchor="ctr"/>
          <a:lstStyle/>
          <a:p>
            <a:pPr marL="0" indent="0" algn="ctr">
              <a:buNone/>
            </a:pPr>
            <a:r>
              <a:rPr lang="en-US" sz="4400" b="1" dirty="0">
                <a:solidFill>
                  <a:srgbClr val="0F2A4A"/>
                </a:solidFill>
                <a:latin typeface="Calibri" pitchFamily="34" charset="0"/>
                <a:ea typeface="Calibri" pitchFamily="34" charset="-122"/>
                <a:cs typeface="Calibri" pitchFamily="34" charset="-120"/>
              </a:rPr>
              <a:t>0.538</a:t>
            </a:r>
            <a:endParaRPr lang="en-US" sz="4400" dirty="0"/>
          </a:p>
        </p:txBody>
      </p:sp>
      <p:sp>
        <p:nvSpPr>
          <p:cNvPr id="7" name="Text 5"/>
          <p:cNvSpPr/>
          <p:nvPr/>
        </p:nvSpPr>
        <p:spPr>
          <a:xfrm>
            <a:off x="457200" y="2606040"/>
            <a:ext cx="2103120" cy="54864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Final Training Loss</a:t>
            </a:r>
            <a:endParaRPr lang="en-US" sz="1200" dirty="0"/>
          </a:p>
        </p:txBody>
      </p:sp>
      <p:sp>
        <p:nvSpPr>
          <p:cNvPr id="8" name="Shape 6"/>
          <p:cNvSpPr/>
          <p:nvPr/>
        </p:nvSpPr>
        <p:spPr>
          <a:xfrm>
            <a:off x="3520440" y="1417320"/>
            <a:ext cx="2103120" cy="1828800"/>
          </a:xfrm>
          <a:prstGeom prst="rect">
            <a:avLst/>
          </a:prstGeom>
          <a:solidFill>
            <a:srgbClr val="F1F6F8"/>
          </a:solidFill>
          <a:ln w="12700">
            <a:solidFill>
              <a:srgbClr val="0E8A8A"/>
            </a:solidFill>
            <a:prstDash val="solid"/>
          </a:ln>
        </p:spPr>
        <p:txBody>
          <a:bodyPr/>
          <a:lstStyle/>
          <a:p>
            <a:endParaRPr lang="en-US"/>
          </a:p>
        </p:txBody>
      </p:sp>
      <p:sp>
        <p:nvSpPr>
          <p:cNvPr id="9" name="Shape 7"/>
          <p:cNvSpPr/>
          <p:nvPr/>
        </p:nvSpPr>
        <p:spPr>
          <a:xfrm>
            <a:off x="3520440" y="1417320"/>
            <a:ext cx="2103120" cy="73152"/>
          </a:xfrm>
          <a:prstGeom prst="rect">
            <a:avLst/>
          </a:prstGeom>
          <a:solidFill>
            <a:srgbClr val="0E8A8A"/>
          </a:solidFill>
          <a:ln w="12700">
            <a:solidFill>
              <a:srgbClr val="0E8A8A"/>
            </a:solidFill>
            <a:prstDash val="solid"/>
          </a:ln>
        </p:spPr>
        <p:txBody>
          <a:bodyPr/>
          <a:lstStyle/>
          <a:p>
            <a:endParaRPr lang="en-US"/>
          </a:p>
        </p:txBody>
      </p:sp>
      <p:sp>
        <p:nvSpPr>
          <p:cNvPr id="10" name="Text 8"/>
          <p:cNvSpPr/>
          <p:nvPr/>
        </p:nvSpPr>
        <p:spPr>
          <a:xfrm>
            <a:off x="3520440" y="1600200"/>
            <a:ext cx="2103120" cy="1005840"/>
          </a:xfrm>
          <a:prstGeom prst="rect">
            <a:avLst/>
          </a:prstGeom>
          <a:noFill/>
          <a:ln/>
        </p:spPr>
        <p:txBody>
          <a:bodyPr wrap="square" lIns="0" tIns="0" rIns="0" bIns="0" rtlCol="0" anchor="ctr"/>
          <a:lstStyle/>
          <a:p>
            <a:pPr marL="0" indent="0" algn="ctr">
              <a:buNone/>
            </a:pPr>
            <a:r>
              <a:rPr lang="en-US" sz="4400" b="1" dirty="0">
                <a:solidFill>
                  <a:srgbClr val="0E8A8A"/>
                </a:solidFill>
                <a:latin typeface="Calibri" pitchFamily="34" charset="0"/>
                <a:ea typeface="Calibri" pitchFamily="34" charset="-122"/>
                <a:cs typeface="Calibri" pitchFamily="34" charset="-120"/>
              </a:rPr>
              <a:t>77.7%</a:t>
            </a:r>
            <a:endParaRPr lang="en-US" sz="4400" dirty="0"/>
          </a:p>
        </p:txBody>
      </p:sp>
      <p:sp>
        <p:nvSpPr>
          <p:cNvPr id="11" name="Text 9"/>
          <p:cNvSpPr/>
          <p:nvPr/>
        </p:nvSpPr>
        <p:spPr>
          <a:xfrm>
            <a:off x="3520440" y="2606040"/>
            <a:ext cx="2103120" cy="54864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Training Accuracy</a:t>
            </a:r>
            <a:endParaRPr lang="en-US" sz="1200" dirty="0"/>
          </a:p>
        </p:txBody>
      </p:sp>
      <p:sp>
        <p:nvSpPr>
          <p:cNvPr id="12" name="Shape 10"/>
          <p:cNvSpPr/>
          <p:nvPr/>
        </p:nvSpPr>
        <p:spPr>
          <a:xfrm>
            <a:off x="6583680" y="1417320"/>
            <a:ext cx="2103120" cy="1828800"/>
          </a:xfrm>
          <a:prstGeom prst="rect">
            <a:avLst/>
          </a:prstGeom>
          <a:solidFill>
            <a:srgbClr val="F1F6F8"/>
          </a:solidFill>
          <a:ln w="12700">
            <a:solidFill>
              <a:srgbClr val="0E7C3A"/>
            </a:solidFill>
            <a:prstDash val="solid"/>
          </a:ln>
        </p:spPr>
        <p:txBody>
          <a:bodyPr/>
          <a:lstStyle/>
          <a:p>
            <a:endParaRPr lang="en-US"/>
          </a:p>
        </p:txBody>
      </p:sp>
      <p:sp>
        <p:nvSpPr>
          <p:cNvPr id="13" name="Shape 11"/>
          <p:cNvSpPr/>
          <p:nvPr/>
        </p:nvSpPr>
        <p:spPr>
          <a:xfrm>
            <a:off x="6583680" y="1417320"/>
            <a:ext cx="2103120" cy="73152"/>
          </a:xfrm>
          <a:prstGeom prst="rect">
            <a:avLst/>
          </a:prstGeom>
          <a:solidFill>
            <a:srgbClr val="0E7C3A"/>
          </a:solidFill>
          <a:ln w="12700">
            <a:solidFill>
              <a:srgbClr val="0E7C3A"/>
            </a:solidFill>
            <a:prstDash val="solid"/>
          </a:ln>
        </p:spPr>
        <p:txBody>
          <a:bodyPr/>
          <a:lstStyle/>
          <a:p>
            <a:endParaRPr lang="en-US"/>
          </a:p>
        </p:txBody>
      </p:sp>
      <p:sp>
        <p:nvSpPr>
          <p:cNvPr id="14" name="Text 12"/>
          <p:cNvSpPr/>
          <p:nvPr/>
        </p:nvSpPr>
        <p:spPr>
          <a:xfrm>
            <a:off x="6583680" y="1600200"/>
            <a:ext cx="2103120" cy="1005840"/>
          </a:xfrm>
          <a:prstGeom prst="rect">
            <a:avLst/>
          </a:prstGeom>
          <a:noFill/>
          <a:ln/>
        </p:spPr>
        <p:txBody>
          <a:bodyPr wrap="square" lIns="0" tIns="0" rIns="0" bIns="0" rtlCol="0" anchor="ctr"/>
          <a:lstStyle/>
          <a:p>
            <a:pPr marL="0" indent="0" algn="ctr">
              <a:buNone/>
            </a:pPr>
            <a:r>
              <a:rPr lang="en-US" sz="4400" b="1" dirty="0">
                <a:solidFill>
                  <a:srgbClr val="0E7C3A"/>
                </a:solidFill>
                <a:latin typeface="Calibri" pitchFamily="34" charset="0"/>
                <a:ea typeface="Calibri" pitchFamily="34" charset="-122"/>
                <a:cs typeface="Calibri" pitchFamily="34" charset="-120"/>
              </a:rPr>
              <a:t>80.4%</a:t>
            </a:r>
            <a:endParaRPr lang="en-US" sz="4400" dirty="0"/>
          </a:p>
        </p:txBody>
      </p:sp>
      <p:sp>
        <p:nvSpPr>
          <p:cNvPr id="15" name="Text 13"/>
          <p:cNvSpPr/>
          <p:nvPr/>
        </p:nvSpPr>
        <p:spPr>
          <a:xfrm>
            <a:off x="6583680" y="2606040"/>
            <a:ext cx="2103120" cy="54864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Testing Accuracy</a:t>
            </a:r>
            <a:endParaRPr lang="en-US" sz="1200" dirty="0"/>
          </a:p>
        </p:txBody>
      </p:sp>
      <p:sp>
        <p:nvSpPr>
          <p:cNvPr id="16" name="Text 14"/>
          <p:cNvSpPr/>
          <p:nvPr/>
        </p:nvSpPr>
        <p:spPr>
          <a:xfrm>
            <a:off x="457200" y="3749040"/>
            <a:ext cx="8229600" cy="548640"/>
          </a:xfrm>
          <a:prstGeom prst="rect">
            <a:avLst/>
          </a:prstGeom>
          <a:noFill/>
          <a:ln/>
        </p:spPr>
        <p:txBody>
          <a:bodyPr wrap="square" rtlCol="0" anchor="ctr"/>
          <a:lstStyle/>
          <a:p>
            <a:pPr marL="0" indent="0" algn="ctr">
              <a:buNone/>
            </a:pPr>
            <a:r>
              <a:rPr lang="en-US" sz="1400" i="1" dirty="0">
                <a:solidFill>
                  <a:srgbClr val="1F2937"/>
                </a:solidFill>
                <a:latin typeface="Calibri" pitchFamily="34" charset="0"/>
                <a:ea typeface="Calibri" pitchFamily="34" charset="-122"/>
                <a:cs typeface="Calibri" pitchFamily="34" charset="-120"/>
              </a:rPr>
              <a:t>Test accuracy slightly higher than training accuracy — the model generalized well to unseen patients.</a:t>
            </a:r>
            <a:endParaRPr lang="en-US" sz="1400" dirty="0"/>
          </a:p>
        </p:txBody>
      </p:sp>
      <p:sp>
        <p:nvSpPr>
          <p:cNvPr id="17" name="Text 15"/>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 / 10</a:t>
            </a:r>
            <a:endParaRPr lang="en-US" sz="900" dirty="0"/>
          </a:p>
        </p:txBody>
      </p:sp>
      <p:sp>
        <p:nvSpPr>
          <p:cNvPr id="18" name="Text 16"/>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L">
    <p:bg>
      <p:bgPr>
        <a:solidFill>
          <a:srgbClr val="FFFFFF"/>
        </a:solidFill>
        <a:effectLst/>
      </p:bgPr>
    </p:bg>
    <p:spTree>
      <p:nvGrpSpPr>
        <p:cNvPr id="1" name=""/>
        <p:cNvGrpSpPr/>
        <p:nvPr/>
      </p:nvGrpSpPr>
      <p:grpSpPr>
        <a:xfrm>
          <a:off x="0" y="0"/>
          <a:ext cx="0" cy="0"/>
          <a:chOff x="0" y="0"/>
          <a:chExt cx="0" cy="0"/>
        </a:xfrm>
      </p:grpSpPr>
      <p:sp>
        <p:nvSpPr>
          <p:cNvPr id="2" name="Title"/>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Limitations &amp; Confidence</a:t>
            </a:r>
            <a:endParaRPr lang="en-US" sz="3200" dirty="0"/>
          </a:p>
        </p:txBody>
      </p:sp>
      <p:sp>
        <p:nvSpPr>
          <p:cNvPr id="3" name="TitleAccent"/>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Subtitle"/>
          <p:cNvSpPr/>
          <p:nvPr/>
        </p:nvSpPr>
        <p:spPr>
          <a:xfrm>
            <a:off x="457200" y="1188720"/>
            <a:ext cx="8229600" cy="320040"/>
          </a:xfrm>
          <a:prstGeom prst="rect">
            <a:avLst/>
          </a:prstGeom>
          <a:noFill/>
          <a:ln/>
        </p:spPr>
        <p:txBody>
          <a:bodyPr wrap="square" lIns="0" tIns="0" rIns="0" bIns="0" rtlCol="0" anchor="ctr"/>
          <a:lstStyle/>
          <a:p>
            <a:pPr marL="0" indent="0" algn="l">
              <a:buNone/>
            </a:pPr>
            <a:r>
              <a:rPr lang="en-US" sz="1600" i="1" dirty="0">
                <a:solidFill>
                  <a:srgbClr val="6B7280"/>
                </a:solidFill>
                <a:latin typeface="Calibri" pitchFamily="34" charset="0"/>
                <a:ea typeface="Calibri" pitchFamily="34" charset="-122"/>
                <a:cs typeface="Calibri" pitchFamily="34" charset="-120"/>
              </a:rPr>
              <a:t>Would I trust this model to diagnose cirrhosis?</a:t>
            </a:r>
            <a:endParaRPr lang="en-US" sz="1600" dirty="0"/>
          </a:p>
        </p:txBody>
      </p:sp>
      <p:sp>
        <p:nvSpPr>
          <p:cNvPr id="5" name="Bullets"/>
          <p:cNvSpPr/>
          <p:nvPr/>
        </p:nvSpPr>
        <p:spPr>
          <a:xfrm>
            <a:off x="457200" y="1645920"/>
            <a:ext cx="8229600" cy="2697480"/>
          </a:xfrm>
          <a:prstGeom prst="rect">
            <a:avLst/>
          </a:prstGeom>
          <a:noFill/>
          <a:ln/>
        </p:spPr>
        <p:txBody>
          <a:bodyPr wrap="square" rtlCol="0" anchor="ctr"/>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Dataset shrank from 418 to 276 patients after dropping rows with missing values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Only 10 epochs trained, with no validation split, dropout, or regularization</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Drug column was excluded per the project spec, removing a clinically meaningful variable</a:t>
            </a:r>
            <a:endParaRPr lang="en-US" sz="1600" dirty="0"/>
          </a:p>
          <a:p>
            <a:pPr marL="342900" indent="-342900">
              <a:spcAft>
                <a:spcPts val="1000"/>
              </a:spcAft>
              <a:buSzPct val="100000"/>
              <a:buChar char="•"/>
            </a:pPr>
            <a:r>
              <a:rPr lang="en-US" sz="1600" b="1" dirty="0">
                <a:solidFill>
                  <a:srgbClr val="1F2937"/>
                </a:solidFill>
                <a:latin typeface="Calibri" pitchFamily="34" charset="0"/>
                <a:ea typeface="Calibri" pitchFamily="34" charset="-122"/>
                <a:cs typeface="Calibri" pitchFamily="34" charset="-120"/>
              </a:rPr>
              <a:t>80% accuracy is encouraging, but not high enough for actual clinical diagnosis</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 real clinical tool would need higher sensitivity, calibrated probabilities, and external validation</a:t>
            </a:r>
            <a:endParaRPr lang="en-US" sz="1600" dirty="0"/>
          </a:p>
        </p:txBody>
      </p:sp>
      <p:sp>
        <p:nvSpPr>
          <p:cNvPr id="6" name="PageNum"/>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 / 10</a:t>
            </a:r>
            <a:endParaRPr lang="en-US" sz="900" dirty="0"/>
          </a:p>
        </p:txBody>
      </p:sp>
      <p:sp>
        <p:nvSpPr>
          <p:cNvPr id="7" name="FooterText"/>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marL="0" indent="0" algn="l">
              <a:buNone/>
            </a:pPr>
            <a:r>
              <a:rPr lang="en-US" sz="3200" b="1" dirty="0">
                <a:solidFill>
                  <a:srgbClr val="0F2A4A"/>
                </a:solidFill>
                <a:latin typeface="Calibri" pitchFamily="34" charset="0"/>
                <a:ea typeface="Calibri" pitchFamily="34" charset="-122"/>
                <a:cs typeface="Calibri" pitchFamily="34" charset="-120"/>
              </a:rPr>
              <a:t>Conclusion</a:t>
            </a:r>
            <a:endParaRPr lang="en-US" sz="3200" dirty="0"/>
          </a:p>
        </p:txBody>
      </p:sp>
      <p:sp>
        <p:nvSpPr>
          <p:cNvPr id="3" name="Shape 1"/>
          <p:cNvSpPr/>
          <p:nvPr/>
        </p:nvSpPr>
        <p:spPr>
          <a:xfrm>
            <a:off x="457200" y="1051560"/>
            <a:ext cx="502920" cy="45720"/>
          </a:xfrm>
          <a:prstGeom prst="rect">
            <a:avLst/>
          </a:prstGeom>
          <a:solidFill>
            <a:srgbClr val="0E8A8A"/>
          </a:solidFill>
          <a:ln w="12700">
            <a:solidFill>
              <a:srgbClr val="0E8A8A"/>
            </a:solidFill>
            <a:prstDash val="solid"/>
          </a:ln>
        </p:spPr>
        <p:txBody>
          <a:bodyPr/>
          <a:lstStyle/>
          <a:p>
            <a:endParaRPr lang="en-US"/>
          </a:p>
        </p:txBody>
      </p:sp>
      <p:sp>
        <p:nvSpPr>
          <p:cNvPr id="4" name="Text 2"/>
          <p:cNvSpPr/>
          <p:nvPr/>
        </p:nvSpPr>
        <p:spPr>
          <a:xfrm>
            <a:off x="457200" y="1371600"/>
            <a:ext cx="8229600" cy="2743200"/>
          </a:xfrm>
          <a:prstGeom prst="rect">
            <a:avLst/>
          </a:prstGeom>
          <a:noFill/>
          <a:ln/>
        </p:spPr>
        <p:txBody>
          <a:bodyPr wrap="square" rtlCol="0" anchor="ctr"/>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A simple neural network reached ~80% accuracy on cirrhosis survival prediction</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Cleaning and encoding the clinical data was just as important as the model itself</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Smooth training curves suggest the architecture was well matched to dataset size</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Next steps: try cross-validation, more epochs, and class-weighted loss for the imbalanced classes</a:t>
            </a:r>
            <a:endParaRPr lang="en-US" sz="1600" dirty="0"/>
          </a:p>
        </p:txBody>
      </p:sp>
      <p:sp>
        <p:nvSpPr>
          <p:cNvPr id="5" name="Shape 3"/>
          <p:cNvSpPr/>
          <p:nvPr/>
        </p:nvSpPr>
        <p:spPr>
          <a:xfrm>
            <a:off x="457200" y="4434840"/>
            <a:ext cx="8229600" cy="36576"/>
          </a:xfrm>
          <a:prstGeom prst="rect">
            <a:avLst/>
          </a:prstGeom>
          <a:solidFill>
            <a:srgbClr val="0E8A8A"/>
          </a:solidFill>
          <a:ln w="12700">
            <a:solidFill>
              <a:srgbClr val="0E8A8A"/>
            </a:solidFill>
            <a:prstDash val="solid"/>
          </a:ln>
        </p:spPr>
        <p:txBody>
          <a:bodyPr/>
          <a:lstStyle/>
          <a:p>
            <a:endParaRPr lang="en-US"/>
          </a:p>
        </p:txBody>
      </p:sp>
      <p:sp>
        <p:nvSpPr>
          <p:cNvPr id="6" name="Text 4"/>
          <p:cNvSpPr/>
          <p:nvPr/>
        </p:nvSpPr>
        <p:spPr>
          <a:xfrm>
            <a:off x="457200" y="4526280"/>
            <a:ext cx="8229600" cy="365760"/>
          </a:xfrm>
          <a:prstGeom prst="rect">
            <a:avLst/>
          </a:prstGeom>
          <a:noFill/>
          <a:ln/>
        </p:spPr>
        <p:txBody>
          <a:bodyPr wrap="square" rtlCol="0" anchor="ctr"/>
          <a:lstStyle/>
          <a:p>
            <a:pPr marL="0" indent="0" algn="r">
              <a:buNone/>
            </a:pPr>
            <a:r>
              <a:rPr lang="en-US" sz="1400" i="1" dirty="0">
                <a:solidFill>
                  <a:srgbClr val="6B7280"/>
                </a:solidFill>
                <a:latin typeface="Calibri" pitchFamily="34" charset="0"/>
                <a:ea typeface="Calibri" pitchFamily="34" charset="-122"/>
                <a:cs typeface="Calibri" pitchFamily="34" charset="-120"/>
              </a:rPr>
              <a:t>Thank you</a:t>
            </a:r>
            <a:endParaRPr lang="en-US" sz="1400" dirty="0"/>
          </a:p>
        </p:txBody>
      </p:sp>
      <p:sp>
        <p:nvSpPr>
          <p:cNvPr id="7" name="Text 5"/>
          <p:cNvSpPr/>
          <p:nvPr/>
        </p:nvSpPr>
        <p:spPr>
          <a:xfrm>
            <a:off x="8229600" y="4846320"/>
            <a:ext cx="731520" cy="22860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 / 10</a:t>
            </a:r>
            <a:endParaRPr lang="en-US" sz="900" dirty="0"/>
          </a:p>
        </p:txBody>
      </p:sp>
      <p:sp>
        <p:nvSpPr>
          <p:cNvPr id="8" name="Text 6"/>
          <p:cNvSpPr/>
          <p:nvPr/>
        </p:nvSpPr>
        <p:spPr>
          <a:xfrm>
            <a:off x="457200" y="4846320"/>
            <a:ext cx="4572000" cy="22860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Cirrhosis Survival Prediction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115</TotalTime>
  <Words>1525</Words>
  <Application>Microsoft Office PowerPoint</Application>
  <PresentationFormat>On-screen Show (16:9)</PresentationFormat>
  <Paragraphs>115</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Cirrhosis Survival Prediction</dc:title>
  <dc:subject>PptxGenJS Presentation</dc:subject>
  <dc:creator>Angela</dc:creator>
  <cp:lastModifiedBy>Angela Meyer</cp:lastModifiedBy>
  <cp:revision>3</cp:revision>
  <dcterms:created xsi:type="dcterms:W3CDTF">2026-04-30T17:25:00Z</dcterms:created>
  <dcterms:modified xsi:type="dcterms:W3CDTF">2026-05-04T14:30:44Z</dcterms:modified>
</cp:coreProperties>
</file>